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3"/>
  </p:notesMasterIdLst>
  <p:sldIdLst>
    <p:sldId id="256" r:id="rId2"/>
    <p:sldId id="276" r:id="rId3"/>
    <p:sldId id="280" r:id="rId4"/>
    <p:sldId id="282" r:id="rId5"/>
    <p:sldId id="277" r:id="rId6"/>
    <p:sldId id="278" r:id="rId7"/>
    <p:sldId id="279" r:id="rId8"/>
    <p:sldId id="268" r:id="rId9"/>
    <p:sldId id="270" r:id="rId10"/>
    <p:sldId id="265" r:id="rId11"/>
    <p:sldId id="266" r:id="rId1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360" y="259"/>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anya D T" userId="d36865390c8a54e4" providerId="LiveId" clId="{CE18B5EE-4950-42E8-85D1-175CEFD2446C}"/>
    <pc:docChg chg="modSld">
      <pc:chgData name="Dhanya D T" userId="d36865390c8a54e4" providerId="LiveId" clId="{CE18B5EE-4950-42E8-85D1-175CEFD2446C}" dt="2026-01-13T05:17:51.454" v="9" actId="20577"/>
      <pc:docMkLst>
        <pc:docMk/>
      </pc:docMkLst>
      <pc:sldChg chg="modSp mod">
        <pc:chgData name="Dhanya D T" userId="d36865390c8a54e4" providerId="LiveId" clId="{CE18B5EE-4950-42E8-85D1-175CEFD2446C}" dt="2026-01-13T03:59:13.097" v="1" actId="20577"/>
        <pc:sldMkLst>
          <pc:docMk/>
          <pc:sldMk cId="0" sldId="256"/>
        </pc:sldMkLst>
        <pc:spChg chg="mod">
          <ac:chgData name="Dhanya D T" userId="d36865390c8a54e4" providerId="LiveId" clId="{CE18B5EE-4950-42E8-85D1-175CEFD2446C}" dt="2026-01-13T03:59:13.097" v="1" actId="20577"/>
          <ac:spMkLst>
            <pc:docMk/>
            <pc:sldMk cId="0" sldId="256"/>
            <ac:spMk id="87" creationId="{00000000-0000-0000-0000-000000000000}"/>
          </ac:spMkLst>
        </pc:spChg>
      </pc:sldChg>
      <pc:sldChg chg="modSp mod">
        <pc:chgData name="Dhanya D T" userId="d36865390c8a54e4" providerId="LiveId" clId="{CE18B5EE-4950-42E8-85D1-175CEFD2446C}" dt="2026-01-13T05:17:51.454" v="9" actId="20577"/>
        <pc:sldMkLst>
          <pc:docMk/>
          <pc:sldMk cId="3545573231" sldId="278"/>
        </pc:sldMkLst>
        <pc:spChg chg="mod">
          <ac:chgData name="Dhanya D T" userId="d36865390c8a54e4" providerId="LiveId" clId="{CE18B5EE-4950-42E8-85D1-175CEFD2446C}" dt="2026-01-13T05:17:51.454" v="9" actId="20577"/>
          <ac:spMkLst>
            <pc:docMk/>
            <pc:sldMk cId="3545573231" sldId="278"/>
            <ac:spMk id="5" creationId="{00000000-0000-0000-0000-000000000000}"/>
          </ac:spMkLst>
        </pc:spChg>
      </pc:sldChg>
      <pc:sldChg chg="modSp mod">
        <pc:chgData name="Dhanya D T" userId="d36865390c8a54e4" providerId="LiveId" clId="{CE18B5EE-4950-42E8-85D1-175CEFD2446C}" dt="2026-01-13T03:59:58.815" v="2" actId="20577"/>
        <pc:sldMkLst>
          <pc:docMk/>
          <pc:sldMk cId="3277157186" sldId="279"/>
        </pc:sldMkLst>
        <pc:spChg chg="mod">
          <ac:chgData name="Dhanya D T" userId="d36865390c8a54e4" providerId="LiveId" clId="{CE18B5EE-4950-42E8-85D1-175CEFD2446C}" dt="2026-01-13T03:59:58.815" v="2" actId="20577"/>
          <ac:spMkLst>
            <pc:docMk/>
            <pc:sldMk cId="3277157186" sldId="279"/>
            <ac:spMk id="4" creationId="{1D9F93D9-04A8-F65A-DD66-A54640F757A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681147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1">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dhanyadt/contact-center-.git"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github.com/dhanyadt/disaster-management"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914400" y="1218889"/>
            <a:ext cx="10363200" cy="962898"/>
          </a:xfrm>
          <a:prstGeom prst="rect">
            <a:avLst/>
          </a:prstGeom>
          <a:noFill/>
          <a:ln>
            <a:noFill/>
          </a:ln>
        </p:spPr>
        <p:txBody>
          <a:bodyPr spcFirstLastPara="1" wrap="square" lIns="91425" tIns="45700" rIns="91425" bIns="45700" anchor="ctr" anchorCtr="0">
            <a:noAutofit/>
          </a:bodyPr>
          <a:lstStyle/>
          <a:p>
            <a:pPr lvl="0" algn="ctr"/>
            <a:r>
              <a:rPr lang="en-US" dirty="0">
                <a:latin typeface="Times New Roman" panose="02020603050405020304" pitchFamily="18" charset="0"/>
                <a:cs typeface="Times New Roman" panose="02020603050405020304" pitchFamily="18" charset="0"/>
              </a:rPr>
              <a:t>Disaster Preparedness and Response Education System for Schools and Colleges``</a:t>
            </a:r>
            <a:endParaRPr dirty="0">
              <a:solidFill>
                <a:schemeClr val="bg2">
                  <a:lumMod val="75000"/>
                </a:schemeClr>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90" name="Google Shape;90;p13"/>
          <p:cNvSpPr txBox="1"/>
          <p:nvPr/>
        </p:nvSpPr>
        <p:spPr>
          <a:xfrm>
            <a:off x="7033542" y="2721840"/>
            <a:ext cx="5514300" cy="1812060"/>
          </a:xfrm>
          <a:prstGeom prst="rect">
            <a:avLst/>
          </a:prstGeom>
          <a:noFill/>
          <a:ln>
            <a:noFill/>
          </a:ln>
        </p:spPr>
        <p:txBody>
          <a:bodyPr spcFirstLastPara="1" wrap="square" lIns="91425" tIns="45700" rIns="91425" bIns="45700" anchor="t" anchorCtr="0">
            <a:normAutofit/>
          </a:bodyPr>
          <a:lstStyle/>
          <a:p>
            <a:pPr marL="0" marR="0" lvl="0" indent="0" rtl="0">
              <a:spcBef>
                <a:spcPts val="0"/>
              </a:spcBef>
              <a:spcAft>
                <a:spcPts val="0"/>
              </a:spcAft>
              <a:buClr>
                <a:srgbClr val="17365D"/>
              </a:buClr>
              <a:buSzPts val="2000"/>
              <a:buFont typeface="Arial"/>
              <a:buNone/>
            </a:pPr>
            <a:r>
              <a:rPr lang="en-GB"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Under the Supervision of,</a:t>
            </a:r>
            <a:endParaRPr lang="en-GB" sz="1800" i="0" u="none" strike="noStrike" cap="none" dirty="0">
              <a:latin typeface="Times New Roman" panose="02020603050405020304" pitchFamily="18" charset="0"/>
              <a:ea typeface="Cambria" panose="02040503050406030204" pitchFamily="18" charset="0"/>
              <a:cs typeface="Times New Roman" panose="02020603050405020304" pitchFamily="18" charset="0"/>
            </a:endParaRPr>
          </a:p>
          <a:p>
            <a:pPr lvl="0">
              <a:buClr>
                <a:srgbClr val="17365D"/>
              </a:buClr>
              <a:buSzPts val="2000"/>
            </a:pPr>
            <a:r>
              <a:rPr lang="en-GB" sz="18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Dr. Ramesh Sengodan</a:t>
            </a:r>
          </a:p>
          <a:p>
            <a:pPr lvl="0">
              <a:buClr>
                <a:srgbClr val="17365D"/>
              </a:buClr>
              <a:buSzPts val="2000"/>
            </a:pPr>
            <a:r>
              <a:rPr lang="en-GB" sz="18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Professor</a:t>
            </a:r>
            <a:endParaRPr sz="18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a:p>
            <a:pPr marL="0" marR="0" lvl="0" indent="0" rtl="0">
              <a:spcBef>
                <a:spcPts val="340"/>
              </a:spcBef>
              <a:spcAft>
                <a:spcPts val="0"/>
              </a:spcAft>
              <a:buClr>
                <a:srgbClr val="17365D"/>
              </a:buClr>
              <a:buSzPts val="1700"/>
              <a:buFont typeface="Arial"/>
              <a:buNone/>
            </a:pPr>
            <a:r>
              <a:rPr lang="en-GB"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School of Computer Science and Engineering</a:t>
            </a:r>
            <a:endParaRPr lang="en-GB" sz="1800"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rtl="0">
              <a:spcBef>
                <a:spcPts val="340"/>
              </a:spcBef>
              <a:spcAft>
                <a:spcPts val="0"/>
              </a:spcAft>
              <a:buClr>
                <a:srgbClr val="17365D"/>
              </a:buClr>
              <a:buSzPts val="1700"/>
              <a:buFont typeface="Arial"/>
              <a:buNone/>
            </a:pPr>
            <a:r>
              <a:rPr lang="en-GB"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Presidency University</a:t>
            </a:r>
            <a:endParaRPr sz="1800"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2836727495"/>
              </p:ext>
            </p:extLst>
          </p:nvPr>
        </p:nvGraphicFramePr>
        <p:xfrm>
          <a:off x="545109" y="2524133"/>
          <a:ext cx="5427323" cy="1817208"/>
        </p:xfrm>
        <a:graphic>
          <a:graphicData uri="http://schemas.openxmlformats.org/drawingml/2006/table">
            <a:tbl>
              <a:tblPr firstRow="1" bandRow="1">
                <a:tableStyleId>{3C2FFA5D-87B4-456A-9821-1D502468CF0F}</a:tableStyleId>
              </a:tblPr>
              <a:tblGrid>
                <a:gridCol w="2050405">
                  <a:extLst>
                    <a:ext uri="{9D8B030D-6E8A-4147-A177-3AD203B41FA5}">
                      <a16:colId xmlns:a16="http://schemas.microsoft.com/office/drawing/2014/main" val="20000"/>
                    </a:ext>
                  </a:extLst>
                </a:gridCol>
                <a:gridCol w="3376918">
                  <a:extLst>
                    <a:ext uri="{9D8B030D-6E8A-4147-A177-3AD203B41FA5}">
                      <a16:colId xmlns:a16="http://schemas.microsoft.com/office/drawing/2014/main" val="20001"/>
                    </a:ext>
                  </a:extLst>
                </a:gridCol>
              </a:tblGrid>
              <a:tr h="407440">
                <a:tc>
                  <a:txBody>
                    <a:bodyPr/>
                    <a:lstStyle/>
                    <a:p>
                      <a:pPr marL="0" marR="0" lvl="1" indent="0" algn="ctr" rtl="0">
                        <a:spcBef>
                          <a:spcPts val="0"/>
                        </a:spcBef>
                        <a:spcAft>
                          <a:spcPts val="0"/>
                        </a:spcAft>
                        <a:buNone/>
                      </a:pPr>
                      <a:r>
                        <a:rPr lang="en-GB" sz="1800" u="none" strike="noStrike" cap="none" dirty="0"/>
                        <a:t>Roll Number</a:t>
                      </a:r>
                      <a:endParaRPr sz="1800" b="1" u="none" strike="noStrike" cap="none" dirty="0">
                        <a:solidFill>
                          <a:srgbClr val="17365D"/>
                        </a:solidFill>
                      </a:endParaRPr>
                    </a:p>
                  </a:txBody>
                  <a:tcPr marL="91450" marR="91450" marT="45725" marB="45725" anchor="ctr"/>
                </a:tc>
                <a:tc>
                  <a:txBody>
                    <a:bodyPr/>
                    <a:lstStyle/>
                    <a:p>
                      <a:pPr marL="0" marR="0" lvl="0" indent="0" algn="ctr" rtl="0">
                        <a:spcBef>
                          <a:spcPts val="0"/>
                        </a:spcBef>
                        <a:spcAft>
                          <a:spcPts val="0"/>
                        </a:spcAft>
                        <a:buNone/>
                      </a:pPr>
                      <a:r>
                        <a:rPr lang="en-GB" sz="1800" u="none" strike="noStrike" cap="none" dirty="0"/>
                        <a:t>Student Name</a:t>
                      </a:r>
                      <a:endParaRPr sz="1800" b="1" u="none" strike="noStrike" cap="none" dirty="0">
                        <a:solidFill>
                          <a:srgbClr val="17365D"/>
                        </a:solidFill>
                      </a:endParaRPr>
                    </a:p>
                  </a:txBody>
                  <a:tcPr marL="91450" marR="91450" marT="45725" marB="45725" anchor="ctr"/>
                </a:tc>
                <a:extLst>
                  <a:ext uri="{0D108BD9-81ED-4DB2-BD59-A6C34878D82A}">
                    <a16:rowId xmlns:a16="http://schemas.microsoft.com/office/drawing/2014/main" val="10000"/>
                  </a:ext>
                </a:extLst>
              </a:tr>
              <a:tr h="594888">
                <a:tc>
                  <a:txBody>
                    <a:bodyPr/>
                    <a:lstStyle/>
                    <a:p>
                      <a:pPr marL="0" marR="0" lvl="0" indent="0" algn="ctr" rtl="0">
                        <a:spcBef>
                          <a:spcPts val="0"/>
                        </a:spcBef>
                        <a:spcAft>
                          <a:spcPts val="0"/>
                        </a:spcAft>
                        <a:buFont typeface="+mj-lt"/>
                        <a:buNone/>
                      </a:pPr>
                      <a:r>
                        <a:rPr lang="en-US" sz="1800" dirty="0"/>
                        <a:t>20221CCS0115 </a:t>
                      </a:r>
                      <a:endParaRPr sz="1800" u="none" strike="noStrike" cap="none" dirty="0"/>
                    </a:p>
                  </a:txBody>
                  <a:tcPr marL="91450" marR="91450" marT="45725" marB="45725" anchor="ctr"/>
                </a:tc>
                <a:tc>
                  <a:txBody>
                    <a:bodyPr/>
                    <a:lstStyle/>
                    <a:p>
                      <a:pPr marL="0" marR="0" lvl="0" indent="0" algn="ctr" rtl="0">
                        <a:spcBef>
                          <a:spcPts val="0"/>
                        </a:spcBef>
                        <a:spcAft>
                          <a:spcPts val="0"/>
                        </a:spcAft>
                        <a:buNone/>
                      </a:pPr>
                      <a:r>
                        <a:rPr lang="en-US" sz="1800" u="none" strike="noStrike" cap="none" dirty="0"/>
                        <a:t>DHANYA D T</a:t>
                      </a:r>
                      <a:endParaRPr sz="1800" u="none" strike="noStrike" cap="none" dirty="0"/>
                    </a:p>
                  </a:txBody>
                  <a:tcPr marL="91450" marR="91450" marT="45725" marB="45725" anchor="ctr"/>
                </a:tc>
                <a:extLst>
                  <a:ext uri="{0D108BD9-81ED-4DB2-BD59-A6C34878D82A}">
                    <a16:rowId xmlns:a16="http://schemas.microsoft.com/office/drawing/2014/main" val="10001"/>
                  </a:ext>
                </a:extLst>
              </a:tr>
              <a:tr h="407440">
                <a:tc>
                  <a:txBody>
                    <a:bodyPr/>
                    <a:lstStyle/>
                    <a:p>
                      <a:pPr marL="0" marR="0" lvl="0" indent="0" algn="ctr" rtl="0">
                        <a:spcBef>
                          <a:spcPts val="0"/>
                        </a:spcBef>
                        <a:spcAft>
                          <a:spcPts val="0"/>
                        </a:spcAft>
                        <a:buNone/>
                      </a:pPr>
                      <a:r>
                        <a:rPr lang="en-US" sz="1800" dirty="0"/>
                        <a:t>20221CCS0113</a:t>
                      </a:r>
                      <a:endParaRPr sz="1800" u="none" strike="noStrike" cap="none" dirty="0"/>
                    </a:p>
                  </a:txBody>
                  <a:tcPr marL="91450" marR="91450" marT="45725" marB="45725" anchor="ctr"/>
                </a:tc>
                <a:tc>
                  <a:txBody>
                    <a:bodyPr/>
                    <a:lstStyle/>
                    <a:p>
                      <a:pPr marL="0" marR="0" lvl="0" indent="0" algn="ctr" rtl="0">
                        <a:spcBef>
                          <a:spcPts val="0"/>
                        </a:spcBef>
                        <a:spcAft>
                          <a:spcPts val="0"/>
                        </a:spcAft>
                        <a:buNone/>
                      </a:pPr>
                      <a:r>
                        <a:rPr lang="en-US" sz="1800" u="none" strike="noStrike" cap="none" dirty="0"/>
                        <a:t>C NIHARIKA</a:t>
                      </a:r>
                      <a:endParaRPr sz="1800" u="none" strike="noStrike" cap="none" dirty="0"/>
                    </a:p>
                  </a:txBody>
                  <a:tcPr marL="91450" marR="91450" marT="45725" marB="45725" anchor="ctr"/>
                </a:tc>
                <a:extLst>
                  <a:ext uri="{0D108BD9-81ED-4DB2-BD59-A6C34878D82A}">
                    <a16:rowId xmlns:a16="http://schemas.microsoft.com/office/drawing/2014/main" val="10002"/>
                  </a:ext>
                </a:extLst>
              </a:tr>
              <a:tr h="407440">
                <a:tc>
                  <a:txBody>
                    <a:bodyPr/>
                    <a:lstStyle/>
                    <a:p>
                      <a:pPr marL="0" marR="0" lvl="0" indent="0" algn="ctr" rtl="0">
                        <a:spcBef>
                          <a:spcPts val="0"/>
                        </a:spcBef>
                        <a:spcAft>
                          <a:spcPts val="0"/>
                        </a:spcAft>
                        <a:buNone/>
                      </a:pPr>
                      <a:r>
                        <a:rPr lang="en-US" sz="1800" dirty="0"/>
                        <a:t>20221CCS0128</a:t>
                      </a:r>
                      <a:endParaRPr sz="1800" u="none" strike="noStrike" cap="none" dirty="0"/>
                    </a:p>
                  </a:txBody>
                  <a:tcPr marL="91450" marR="91450" marT="45725" marB="45725" anchor="ctr"/>
                </a:tc>
                <a:tc>
                  <a:txBody>
                    <a:bodyPr/>
                    <a:lstStyle/>
                    <a:p>
                      <a:pPr marL="0" marR="0" lvl="0" indent="0" algn="ctr" rtl="0">
                        <a:spcBef>
                          <a:spcPts val="0"/>
                        </a:spcBef>
                        <a:spcAft>
                          <a:spcPts val="0"/>
                        </a:spcAft>
                        <a:buNone/>
                      </a:pPr>
                      <a:r>
                        <a:rPr lang="en-IN" sz="1800" u="none" strike="noStrike" cap="none" dirty="0"/>
                        <a:t>BHAVANI</a:t>
                      </a:r>
                      <a:endParaRPr sz="1800" u="none" strike="noStrike" cap="none" dirty="0"/>
                    </a:p>
                  </a:txBody>
                  <a:tcPr marL="91450" marR="91450" marT="45725" marB="45725" anchor="ctr"/>
                </a:tc>
                <a:extLst>
                  <a:ext uri="{0D108BD9-81ED-4DB2-BD59-A6C34878D82A}">
                    <a16:rowId xmlns:a16="http://schemas.microsoft.com/office/drawing/2014/main" val="10003"/>
                  </a:ext>
                </a:extLst>
              </a:tr>
            </a:tbl>
          </a:graphicData>
        </a:graphic>
      </p:graphicFrame>
      <p:sp>
        <p:nvSpPr>
          <p:cNvPr id="91" name="Google Shape;91;p13"/>
          <p:cNvSpPr txBox="1"/>
          <p:nvPr/>
        </p:nvSpPr>
        <p:spPr>
          <a:xfrm>
            <a:off x="3540148" y="147172"/>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endParaRPr sz="1800"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Review-1</a:t>
            </a:r>
            <a:endParaRPr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endParaRPr>
          </a:p>
        </p:txBody>
      </p:sp>
      <p:sp>
        <p:nvSpPr>
          <p:cNvPr id="8" name="Google Shape;91;p13"/>
          <p:cNvSpPr txBox="1"/>
          <p:nvPr/>
        </p:nvSpPr>
        <p:spPr>
          <a:xfrm>
            <a:off x="442452"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sym typeface="Verdana"/>
              </a:rPr>
              <a:t>Name of the Program: </a:t>
            </a:r>
            <a:r>
              <a:rPr lang="en-US" sz="18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B.TECH</a:t>
            </a:r>
            <a:endParaRPr lang="en-US" sz="18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endParaRPr>
          </a:p>
          <a:p>
            <a:pPr lvl="0">
              <a:buClr>
                <a:srgbClr val="17365D"/>
              </a:buClr>
              <a:buSzPct val="100000"/>
            </a:pPr>
            <a:r>
              <a:rPr lang="en-US" sz="18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sym typeface="Verdana"/>
              </a:rPr>
              <a:t>Name of the HOD: </a:t>
            </a:r>
            <a:r>
              <a:rPr lang="en-US" sz="18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Dr. Anandaraj S.P</a:t>
            </a:r>
          </a:p>
          <a:p>
            <a:pPr lvl="0">
              <a:buClr>
                <a:srgbClr val="17365D"/>
              </a:buClr>
              <a:buSzPct val="100000"/>
            </a:pPr>
            <a:r>
              <a:rPr lang="en-US" sz="1800" b="1" i="0" u="none" strike="noStrike" cap="none"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sym typeface="Verdana"/>
              </a:rPr>
              <a:t>Name of the Program Project Coordinator: </a:t>
            </a:r>
            <a:r>
              <a:rPr lang="en-IN" sz="1800" b="1" dirty="0">
                <a:latin typeface="Times New Roman" panose="02020603050405020304" pitchFamily="18" charset="0"/>
                <a:ea typeface="Cambria" panose="02040503050406030204" pitchFamily="18" charset="0"/>
                <a:cs typeface="Times New Roman" panose="02020603050405020304" pitchFamily="18" charset="0"/>
              </a:rPr>
              <a:t>Dr. </a:t>
            </a:r>
            <a:r>
              <a:rPr lang="en-IN" sz="1800" b="1" dirty="0" err="1">
                <a:latin typeface="Times New Roman" panose="02020603050405020304" pitchFamily="18" charset="0"/>
                <a:ea typeface="Cambria" panose="02040503050406030204" pitchFamily="18" charset="0"/>
                <a:cs typeface="Times New Roman" panose="02020603050405020304" pitchFamily="18" charset="0"/>
              </a:rPr>
              <a:t>Sharmasth</a:t>
            </a:r>
            <a:r>
              <a:rPr lang="en-IN" sz="1800" b="1" dirty="0">
                <a:latin typeface="Times New Roman" panose="02020603050405020304" pitchFamily="18" charset="0"/>
                <a:ea typeface="Cambria" panose="02040503050406030204" pitchFamily="18" charset="0"/>
                <a:cs typeface="Times New Roman" panose="02020603050405020304" pitchFamily="18" charset="0"/>
              </a:rPr>
              <a:t> Vali</a:t>
            </a:r>
          </a:p>
          <a:p>
            <a:pPr lvl="0">
              <a:buClr>
                <a:srgbClr val="17365D"/>
              </a:buClr>
              <a:buSzPct val="100000"/>
            </a:pPr>
            <a:r>
              <a:rPr lang="en-US" sz="18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sym typeface="Verdana"/>
              </a:rPr>
              <a:t>Name of the School Project Coordinators: </a:t>
            </a:r>
            <a:r>
              <a:rPr lang="en-US" sz="18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Dr. Sampath A K , Dr. Geetha A </a:t>
            </a:r>
            <a:endParaRPr sz="18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65BDC7A-28D3-EF67-017A-3872CF05B2DC}"/>
              </a:ext>
            </a:extLst>
          </p:cNvPr>
          <p:cNvSpPr>
            <a:spLocks noGrp="1"/>
          </p:cNvSpPr>
          <p:nvPr>
            <p:ph type="body" idx="1"/>
          </p:nvPr>
        </p:nvSpPr>
        <p:spPr>
          <a:xfrm>
            <a:off x="845850" y="1143001"/>
            <a:ext cx="10668000" cy="4953000"/>
          </a:xfrm>
        </p:spPr>
        <p:txBody>
          <a:bodyPr>
            <a:normAutofit/>
          </a:bodyPr>
          <a:lstStyle/>
          <a:p>
            <a:pPr marL="495300" indent="-342900" algn="just">
              <a:lnSpc>
                <a:spcPct val="200000"/>
              </a:lnSpc>
              <a:spcBef>
                <a:spcPts val="0"/>
              </a:spcBef>
              <a:buFont typeface="Arial" panose="020B0604020202020204" pitchFamily="34" charset="0"/>
              <a:buChar char="•"/>
            </a:pPr>
            <a:r>
              <a:rPr lang="en-US" sz="1600" dirty="0">
                <a:latin typeface="Times New Roman" panose="02020603050405020304" pitchFamily="18" charset="0"/>
                <a:ea typeface="Cambria" panose="02040503050406030204" pitchFamily="18" charset="0"/>
                <a:cs typeface="Times New Roman" panose="02020603050405020304" pitchFamily="18" charset="0"/>
              </a:rPr>
              <a:t>Problem Statement</a:t>
            </a:r>
          </a:p>
          <a:p>
            <a:pPr marL="438150" indent="-285750" algn="just">
              <a:lnSpc>
                <a:spcPct val="200000"/>
              </a:lnSpc>
              <a:spcBef>
                <a:spcPts val="0"/>
              </a:spcBef>
            </a:pPr>
            <a:r>
              <a:rPr lang="en-US" sz="1600" dirty="0">
                <a:latin typeface="Times New Roman" panose="02020603050405020304" pitchFamily="18" charset="0"/>
                <a:ea typeface="Cambria" panose="02040503050406030204" pitchFamily="18" charset="0"/>
                <a:cs typeface="Times New Roman" panose="02020603050405020304" pitchFamily="18" charset="0"/>
              </a:rPr>
              <a:t> Objectives</a:t>
            </a:r>
          </a:p>
          <a:p>
            <a:pPr marL="495300" indent="-342900" algn="just">
              <a:lnSpc>
                <a:spcPct val="200000"/>
              </a:lnSpc>
              <a:spcBef>
                <a:spcPts val="0"/>
              </a:spcBef>
              <a:buFont typeface="Arial" panose="020B0604020202020204" pitchFamily="34" charset="0"/>
              <a:buChar char="•"/>
            </a:pPr>
            <a:r>
              <a:rPr lang="en-US" sz="1600" dirty="0">
                <a:latin typeface="Times New Roman" panose="02020603050405020304" pitchFamily="18" charset="0"/>
                <a:ea typeface="Cambria" panose="02040503050406030204" pitchFamily="18" charset="0"/>
                <a:cs typeface="Times New Roman" panose="020206030504050203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sz="1600" dirty="0">
                <a:latin typeface="Times New Roman" panose="02020603050405020304" pitchFamily="18" charset="0"/>
                <a:ea typeface="Cambria" panose="02040503050406030204" pitchFamily="18" charset="0"/>
                <a:cs typeface="Times New Roman" panose="020206030504050203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sz="1600" dirty="0">
                <a:latin typeface="Times New Roman" panose="02020603050405020304" pitchFamily="18" charset="0"/>
                <a:ea typeface="Cambria" panose="02040503050406030204" pitchFamily="18" charset="0"/>
                <a:cs typeface="Times New Roman" panose="02020603050405020304" pitchFamily="18" charset="0"/>
              </a:rPr>
              <a:t>Innovation or Novel Contributions</a:t>
            </a:r>
            <a:endParaRPr lang="en-US" sz="2000" dirty="0">
              <a:latin typeface="Times New Roman" panose="02020603050405020304" pitchFamily="18" charset="0"/>
              <a:ea typeface="Cambria" panose="02040503050406030204" pitchFamily="18" charset="0"/>
              <a:cs typeface="Times New Roman" panose="02020603050405020304" pitchFamily="18" charset="0"/>
            </a:endParaRPr>
          </a:p>
          <a:p>
            <a:pPr marL="495300" indent="-342900" algn="just">
              <a:lnSpc>
                <a:spcPct val="200000"/>
              </a:lnSpc>
              <a:spcBef>
                <a:spcPts val="0"/>
              </a:spcBef>
              <a:buFont typeface="Arial" panose="020B0604020202020204" pitchFamily="34" charset="0"/>
              <a:buChar char="•"/>
            </a:pPr>
            <a:r>
              <a:rPr lang="en-US" sz="1600" dirty="0">
                <a:latin typeface="Times New Roman" panose="02020603050405020304" pitchFamily="18" charset="0"/>
                <a:ea typeface="Cambria" panose="02040503050406030204" pitchFamily="18" charset="0"/>
                <a:cs typeface="Times New Roman" panose="02020603050405020304" pitchFamily="18" charset="0"/>
              </a:rPr>
              <a:t>Git-hub Link</a:t>
            </a:r>
          </a:p>
          <a:p>
            <a:pPr marL="495300" lvl="0" indent="-342900" algn="just">
              <a:lnSpc>
                <a:spcPct val="200000"/>
              </a:lnSpc>
              <a:spcBef>
                <a:spcPts val="0"/>
              </a:spcBef>
              <a:buFont typeface="Arial" panose="020B0604020202020204" pitchFamily="34" charset="0"/>
              <a:buChar char="•"/>
            </a:pPr>
            <a:r>
              <a:rPr lang="en-US" sz="1600" dirty="0">
                <a:latin typeface="Times New Roman" panose="02020603050405020304" pitchFamily="18" charset="0"/>
                <a:ea typeface="Cambria" panose="02040503050406030204" pitchFamily="18" charset="0"/>
                <a:cs typeface="Times New Roman" panose="02020603050405020304" pitchFamily="18" charset="0"/>
              </a:rPr>
              <a:t>Timeline of the Project</a:t>
            </a:r>
          </a:p>
          <a:p>
            <a:pPr marL="495300" lvl="0" indent="-342900" algn="just">
              <a:lnSpc>
                <a:spcPct val="200000"/>
              </a:lnSpc>
              <a:spcBef>
                <a:spcPts val="0"/>
              </a:spcBef>
              <a:buFont typeface="Arial" panose="020B0604020202020204" pitchFamily="34" charset="0"/>
              <a:buChar char="•"/>
            </a:pPr>
            <a:r>
              <a:rPr lang="en-US" sz="1600" dirty="0">
                <a:latin typeface="Times New Roman" panose="02020603050405020304" pitchFamily="18" charset="0"/>
                <a:ea typeface="Cambria" panose="02040503050406030204" pitchFamily="18" charset="0"/>
                <a:cs typeface="Times New Roman" panose="02020603050405020304" pitchFamily="18" charset="0"/>
              </a:rPr>
              <a:t>References</a:t>
            </a:r>
          </a:p>
          <a:p>
            <a:pPr marL="76200" indent="0">
              <a:buNone/>
            </a:pPr>
            <a:endParaRPr lang="en-US" sz="16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539D017-31F4-666B-F476-A1BF15ECFFF7}"/>
              </a:ext>
            </a:extLst>
          </p:cNvPr>
          <p:cNvSpPr txBox="1"/>
          <p:nvPr/>
        </p:nvSpPr>
        <p:spPr>
          <a:xfrm>
            <a:off x="-491237" y="954959"/>
            <a:ext cx="9187543" cy="2095498"/>
          </a:xfrm>
          <a:prstGeom prst="rect">
            <a:avLst/>
          </a:prstGeom>
          <a:noFill/>
        </p:spPr>
        <p:txBody>
          <a:bodyPr wrap="square" rtlCol="0">
            <a:spAutoFit/>
          </a:bodyPr>
          <a:lstStyle/>
          <a:p>
            <a:endParaRPr lang="en-IN" dirty="0"/>
          </a:p>
        </p:txBody>
      </p:sp>
      <p:sp>
        <p:nvSpPr>
          <p:cNvPr id="4" name="TextBox 3">
            <a:extLst>
              <a:ext uri="{FF2B5EF4-FFF2-40B4-BE49-F238E27FC236}">
                <a16:creationId xmlns:a16="http://schemas.microsoft.com/office/drawing/2014/main" id="{68B23C01-8A4F-FD2C-BF5B-7208631323BB}"/>
              </a:ext>
            </a:extLst>
          </p:cNvPr>
          <p:cNvSpPr txBox="1"/>
          <p:nvPr/>
        </p:nvSpPr>
        <p:spPr>
          <a:xfrm>
            <a:off x="845850" y="380544"/>
            <a:ext cx="1779463" cy="461665"/>
          </a:xfrm>
          <a:prstGeom prst="rect">
            <a:avLst/>
          </a:prstGeom>
          <a:noFill/>
        </p:spPr>
        <p:txBody>
          <a:bodyPr wrap="square" rtlCol="0">
            <a:spAutoFit/>
          </a:bodyPr>
          <a:lstStyle/>
          <a:p>
            <a:r>
              <a:rPr lang="en-IN" sz="2400" b="1" dirty="0">
                <a:solidFill>
                  <a:schemeClr val="bg2">
                    <a:lumMod val="75000"/>
                  </a:schemeClr>
                </a:solidFill>
                <a:latin typeface="Times New Roman" panose="02020603050405020304" pitchFamily="18" charset="0"/>
                <a:cs typeface="Times New Roman" panose="02020603050405020304" pitchFamily="18" charset="0"/>
              </a:rPr>
              <a:t>Content</a:t>
            </a:r>
          </a:p>
        </p:txBody>
      </p:sp>
    </p:spTree>
    <p:extLst>
      <p:ext uri="{BB962C8B-B14F-4D97-AF65-F5344CB8AC3E}">
        <p14:creationId xmlns:p14="http://schemas.microsoft.com/office/powerpoint/2010/main" val="10847349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F693F-BB35-4A3C-294B-0CB243DE9BD6}"/>
              </a:ext>
            </a:extLst>
          </p:cNvPr>
          <p:cNvSpPr>
            <a:spLocks noGrp="1"/>
          </p:cNvSpPr>
          <p:nvPr>
            <p:ph type="title"/>
          </p:nvPr>
        </p:nvSpPr>
        <p:spPr>
          <a:xfrm>
            <a:off x="812801" y="361724"/>
            <a:ext cx="10668000" cy="487500"/>
          </a:xfrm>
        </p:spPr>
        <p:txBody>
          <a:bodyPr/>
          <a:lstStyle/>
          <a:p>
            <a:r>
              <a:rPr lang="en-GB" dirty="0">
                <a:latin typeface="Times New Roman" panose="02020603050405020304" pitchFamily="18" charset="0"/>
                <a:ea typeface="Cambria" panose="02040503050406030204" pitchFamily="18" charset="0"/>
                <a:cs typeface="Times New Roman" panose="02020603050405020304" pitchFamily="18" charset="0"/>
              </a:rPr>
              <a:t>Problem Statement Number: SIH 25008</a:t>
            </a:r>
            <a:endParaRPr lang="en-IN" dirty="0"/>
          </a:p>
        </p:txBody>
      </p:sp>
      <p:sp>
        <p:nvSpPr>
          <p:cNvPr id="3" name="Text Placeholder 2">
            <a:extLst>
              <a:ext uri="{FF2B5EF4-FFF2-40B4-BE49-F238E27FC236}">
                <a16:creationId xmlns:a16="http://schemas.microsoft.com/office/drawing/2014/main" id="{9F845C03-7480-FE16-D6D3-DB871BB85880}"/>
              </a:ext>
            </a:extLst>
          </p:cNvPr>
          <p:cNvSpPr>
            <a:spLocks noGrp="1"/>
          </p:cNvSpPr>
          <p:nvPr>
            <p:ph type="body" idx="1"/>
          </p:nvPr>
        </p:nvSpPr>
        <p:spPr>
          <a:xfrm>
            <a:off x="870857" y="1273629"/>
            <a:ext cx="10668000" cy="4953000"/>
          </a:xfrm>
        </p:spPr>
        <p:txBody>
          <a:bodyPr>
            <a:normAutofit/>
          </a:bodyPr>
          <a:lstStyle/>
          <a:p>
            <a:pPr marL="76200" indent="0">
              <a:buNone/>
            </a:pPr>
            <a:endParaRPr lang="en-US" sz="1600" dirty="0">
              <a:latin typeface="Times New Roman" panose="02020603050405020304" pitchFamily="18" charset="0"/>
              <a:ea typeface="Cambria" panose="02040503050406030204" pitchFamily="18" charset="0"/>
              <a:cs typeface="Times New Roman" panose="02020603050405020304" pitchFamily="18" charset="0"/>
            </a:endParaRPr>
          </a:p>
          <a:p>
            <a:pPr marL="76200" indent="0">
              <a:buNone/>
            </a:pPr>
            <a:r>
              <a:rPr lang="en-US" sz="1800" b="1" dirty="0">
                <a:latin typeface="Times New Roman" panose="02020603050405020304" pitchFamily="18" charset="0"/>
                <a:ea typeface="Cambria" panose="02040503050406030204" pitchFamily="18" charset="0"/>
                <a:cs typeface="Times New Roman" panose="02020603050405020304" pitchFamily="18" charset="0"/>
              </a:rPr>
              <a:t>Category (Hardware / Software / Both) :</a:t>
            </a:r>
            <a:r>
              <a:rPr lang="en-US" sz="1600" b="1" dirty="0">
                <a:latin typeface="Times New Roman" panose="02020603050405020304" pitchFamily="18" charset="0"/>
                <a:ea typeface="Cambria" panose="02040503050406030204" pitchFamily="18" charset="0"/>
                <a:cs typeface="Times New Roman" panose="02020603050405020304" pitchFamily="18" charset="0"/>
              </a:rPr>
              <a:t> </a:t>
            </a:r>
            <a:r>
              <a:rPr lang="en-US" sz="1800" dirty="0">
                <a:latin typeface="Times New Roman" panose="02020603050405020304" pitchFamily="18" charset="0"/>
                <a:ea typeface="Cambria" panose="02040503050406030204" pitchFamily="18" charset="0"/>
                <a:cs typeface="Times New Roman" panose="02020603050405020304" pitchFamily="18" charset="0"/>
              </a:rPr>
              <a:t>Software</a:t>
            </a:r>
          </a:p>
          <a:p>
            <a:pPr marL="76200" indent="0">
              <a:buNone/>
            </a:pPr>
            <a:endParaRPr lang="en-US" sz="1600" dirty="0">
              <a:latin typeface="Times New Roman" panose="02020603050405020304" pitchFamily="18" charset="0"/>
              <a:ea typeface="Cambria" panose="02040503050406030204" pitchFamily="18" charset="0"/>
              <a:cs typeface="Times New Roman" panose="02020603050405020304" pitchFamily="18" charset="0"/>
            </a:endParaRPr>
          </a:p>
          <a:p>
            <a:pPr marL="76200" indent="0" algn="just">
              <a:buNone/>
            </a:pPr>
            <a:r>
              <a:rPr lang="en-US" sz="18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Problem Description: </a:t>
            </a:r>
          </a:p>
          <a:p>
            <a:pPr marL="76200" indent="0" algn="just">
              <a:buNone/>
            </a:pPr>
            <a:r>
              <a:rPr lang="en-US" sz="18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Educational establishments, including schools and colleges, do not have a planned, continuous system of disaster preparedness and response training. Disaster awareness is confined to theoretical knowledge or irregular physical drills with no clear-cut mechanism or time for readiness assessment, or participation and response accuracy monitoring. This absence of systematic preparedness can create panic, confusion, and increased risk when disaster strikes. Therefore, the specific digital disaster preparedness and response education is required to </a:t>
            </a:r>
          </a:p>
          <a:p>
            <a:pPr marL="76200" indent="0" algn="just">
              <a:buNone/>
            </a:pPr>
            <a:r>
              <a:rPr lang="en-US" sz="18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(a) provide knowledge to the participants </a:t>
            </a:r>
          </a:p>
          <a:p>
            <a:pPr marL="76200" indent="0" algn="just">
              <a:buNone/>
            </a:pPr>
            <a:r>
              <a:rPr lang="en-US" sz="18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(b) conduct simulation-based disaster drills</a:t>
            </a:r>
          </a:p>
          <a:p>
            <a:pPr marL="76200" indent="0" algn="just">
              <a:buNone/>
            </a:pPr>
            <a:r>
              <a:rPr lang="en-US" sz="18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(c) evaluate the preparedness levels of students and staff in educational institutes regarding disasters.</a:t>
            </a:r>
          </a:p>
        </p:txBody>
      </p:sp>
    </p:spTree>
    <p:extLst>
      <p:ext uri="{BB962C8B-B14F-4D97-AF65-F5344CB8AC3E}">
        <p14:creationId xmlns:p14="http://schemas.microsoft.com/office/powerpoint/2010/main" val="2145215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B8EF6-7877-6BE9-3AAA-DFB06FC3C743}"/>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Objectives:</a:t>
            </a:r>
            <a:endParaRPr lang="en-IN" dirty="0"/>
          </a:p>
        </p:txBody>
      </p:sp>
      <p:sp>
        <p:nvSpPr>
          <p:cNvPr id="7" name="Rectangle 3">
            <a:extLst>
              <a:ext uri="{FF2B5EF4-FFF2-40B4-BE49-F238E27FC236}">
                <a16:creationId xmlns:a16="http://schemas.microsoft.com/office/drawing/2014/main" id="{44E498A1-1C1D-F8B7-5E2E-770C6B752AA2}"/>
              </a:ext>
            </a:extLst>
          </p:cNvPr>
          <p:cNvSpPr>
            <a:spLocks noGrp="1" noChangeArrowheads="1"/>
          </p:cNvSpPr>
          <p:nvPr>
            <p:ph type="body" idx="1"/>
          </p:nvPr>
        </p:nvSpPr>
        <p:spPr bwMode="auto">
          <a:xfrm>
            <a:off x="704645" y="1289099"/>
            <a:ext cx="1041908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spcBef>
                <a:spcPct val="0"/>
              </a:spcBef>
              <a:spcAft>
                <a:spcPct val="0"/>
              </a:spcAft>
              <a:buClrTx/>
              <a:buSzTx/>
              <a:buFontTx/>
              <a:buChar char="•"/>
            </a:pPr>
            <a:r>
              <a:rPr lang="en-US" altLang="en-US" sz="1800" dirty="0">
                <a:solidFill>
                  <a:schemeClr val="tx1"/>
                </a:solidFill>
                <a:latin typeface="Arial" panose="020B0604020202020204" pitchFamily="34" charset="0"/>
              </a:rPr>
              <a:t> </a:t>
            </a:r>
            <a:r>
              <a:rPr lang="en-US" altLang="en-US" sz="1800" dirty="0">
                <a:solidFill>
                  <a:schemeClr val="tx1"/>
                </a:solidFill>
                <a:latin typeface="Times New Roman" panose="02020603050405020304" pitchFamily="18" charset="0"/>
                <a:cs typeface="Times New Roman" panose="02020603050405020304" pitchFamily="18" charset="0"/>
              </a:rPr>
              <a:t>To educate students and staff about disaster preparedness.</a:t>
            </a:r>
          </a:p>
          <a:p>
            <a:pPr marL="0" lvl="0" indent="0" algn="just" eaLnBrk="0" fontAlgn="base" hangingPunct="0">
              <a:spcBef>
                <a:spcPct val="0"/>
              </a:spcBef>
              <a:spcAft>
                <a:spcPct val="0"/>
              </a:spcAft>
              <a:buClrTx/>
              <a:buSzTx/>
              <a:buFontTx/>
              <a:buChar char="•"/>
            </a:pPr>
            <a:endParaRPr lang="en-US" altLang="en-US" sz="1800" dirty="0">
              <a:solidFill>
                <a:schemeClr val="tx1"/>
              </a:solidFill>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SzTx/>
              <a:buFontTx/>
              <a:buChar char="•"/>
            </a:pPr>
            <a:r>
              <a:rPr lang="en-US" altLang="en-US" sz="1800" dirty="0">
                <a:solidFill>
                  <a:schemeClr val="tx1"/>
                </a:solidFill>
                <a:latin typeface="Times New Roman" panose="02020603050405020304" pitchFamily="18" charset="0"/>
                <a:cs typeface="Times New Roman" panose="02020603050405020304" pitchFamily="18" charset="0"/>
              </a:rPr>
              <a:t> To conduct virtual disaster response drills.</a:t>
            </a:r>
          </a:p>
          <a:p>
            <a:pPr marL="0" lvl="0" indent="0" algn="just" eaLnBrk="0" fontAlgn="base" hangingPunct="0">
              <a:spcBef>
                <a:spcPct val="0"/>
              </a:spcBef>
              <a:spcAft>
                <a:spcPct val="0"/>
              </a:spcAft>
              <a:buClrTx/>
              <a:buSzTx/>
              <a:buFontTx/>
              <a:buChar char="•"/>
            </a:pPr>
            <a:endParaRPr lang="en-US" altLang="en-US" sz="1800" dirty="0">
              <a:solidFill>
                <a:schemeClr val="tx1"/>
              </a:solidFill>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SzTx/>
              <a:buFontTx/>
              <a:buChar char="•"/>
            </a:pPr>
            <a:r>
              <a:rPr lang="en-US" altLang="en-US" sz="1800" dirty="0">
                <a:solidFill>
                  <a:schemeClr val="tx1"/>
                </a:solidFill>
                <a:latin typeface="Times New Roman" panose="02020603050405020304" pitchFamily="18" charset="0"/>
                <a:cs typeface="Times New Roman" panose="02020603050405020304" pitchFamily="18" charset="0"/>
              </a:rPr>
              <a:t> To evaluate preparedness using scoring and analytics.</a:t>
            </a:r>
          </a:p>
          <a:p>
            <a:pPr marL="0" lvl="0" indent="0" algn="just" eaLnBrk="0" fontAlgn="base" hangingPunct="0">
              <a:spcBef>
                <a:spcPct val="0"/>
              </a:spcBef>
              <a:spcAft>
                <a:spcPct val="0"/>
              </a:spcAft>
              <a:buClrTx/>
              <a:buSzTx/>
              <a:buFontTx/>
              <a:buChar char="•"/>
            </a:pPr>
            <a:endParaRPr lang="en-US" altLang="en-US" sz="1800" dirty="0">
              <a:solidFill>
                <a:schemeClr val="tx1"/>
              </a:solidFill>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SzTx/>
              <a:buFontTx/>
              <a:buChar char="•"/>
            </a:pPr>
            <a:r>
              <a:rPr lang="en-US" altLang="en-US" sz="1800" dirty="0">
                <a:solidFill>
                  <a:schemeClr val="tx1"/>
                </a:solidFill>
                <a:latin typeface="Times New Roman" panose="02020603050405020304" pitchFamily="18" charset="0"/>
                <a:cs typeface="Times New Roman" panose="02020603050405020304" pitchFamily="18" charset="0"/>
              </a:rPr>
              <a:t> To help schools and colleges improve disaster readiness.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77575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B4FE7-5382-99BA-ECC8-5E79421453F7}"/>
              </a:ext>
            </a:extLst>
          </p:cNvPr>
          <p:cNvSpPr>
            <a:spLocks noGrp="1"/>
          </p:cNvSpPr>
          <p:nvPr>
            <p:ph type="title"/>
          </p:nvPr>
        </p:nvSpPr>
        <p:spPr>
          <a:xfrm>
            <a:off x="762000" y="518249"/>
            <a:ext cx="10668000" cy="487500"/>
          </a:xfrm>
        </p:spPr>
        <p:txBody>
          <a:bodyPr/>
          <a:lstStyle/>
          <a:p>
            <a:r>
              <a:rPr lang="en-US" dirty="0">
                <a:latin typeface="Times New Roman" panose="02020603050405020304" pitchFamily="18" charset="0"/>
                <a:ea typeface="Cambria" panose="02040503050406030204" pitchFamily="18" charset="0"/>
                <a:cs typeface="Times New Roman" panose="02020603050405020304" pitchFamily="18" charset="0"/>
              </a:rPr>
              <a:t>Background and Related work for Title Selection</a:t>
            </a:r>
            <a:br>
              <a:rPr lang="en-US" dirty="0">
                <a:latin typeface="Cambria" panose="02040503050406030204" pitchFamily="18" charset="0"/>
                <a:ea typeface="Cambria" panose="02040503050406030204" pitchFamily="18" charset="0"/>
              </a:rPr>
            </a:br>
            <a:endParaRPr lang="en-IN" dirty="0"/>
          </a:p>
        </p:txBody>
      </p:sp>
      <p:sp>
        <p:nvSpPr>
          <p:cNvPr id="4" name="Rectangle 1">
            <a:extLst>
              <a:ext uri="{FF2B5EF4-FFF2-40B4-BE49-F238E27FC236}">
                <a16:creationId xmlns:a16="http://schemas.microsoft.com/office/drawing/2014/main" id="{2754CB7F-78FE-162C-253E-5E4A0B319AEA}"/>
              </a:ext>
            </a:extLst>
          </p:cNvPr>
          <p:cNvSpPr>
            <a:spLocks noGrp="1" noChangeArrowheads="1"/>
          </p:cNvSpPr>
          <p:nvPr>
            <p:ph type="body" idx="1"/>
          </p:nvPr>
        </p:nvSpPr>
        <p:spPr bwMode="auto">
          <a:xfrm>
            <a:off x="704292" y="1114408"/>
            <a:ext cx="9629559"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Systems: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Disaster preparedness is limited to theory and occasional manual drills in institutions.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Existing Systems: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Current disaster management tools focus on real-time response, not education.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Related Work:</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Simulation-based training improves disaster response and awareness.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Gap Identified:</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 simple digital system for disaster education and preparedness evaluation in schools and colleges.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Title Justification:</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proposed system fills this gap through structured learning and virtual drills.</a:t>
            </a:r>
          </a:p>
        </p:txBody>
      </p:sp>
    </p:spTree>
    <p:extLst>
      <p:ext uri="{BB962C8B-B14F-4D97-AF65-F5344CB8AC3E}">
        <p14:creationId xmlns:p14="http://schemas.microsoft.com/office/powerpoint/2010/main" val="1546362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D60B9-8B41-E22C-923B-E7380DB6FEA7}"/>
              </a:ext>
            </a:extLst>
          </p:cNvPr>
          <p:cNvSpPr>
            <a:spLocks noGrp="1"/>
          </p:cNvSpPr>
          <p:nvPr>
            <p:ph type="title"/>
          </p:nvPr>
        </p:nvSpPr>
        <p:spPr/>
        <p:txBody>
          <a:bodyPr/>
          <a:lstStyle/>
          <a:p>
            <a:r>
              <a:rPr lang="en-US" dirty="0">
                <a:latin typeface="Times New Roman" panose="02020603050405020304" pitchFamily="18" charset="0"/>
                <a:ea typeface="Cambria" panose="02040503050406030204" pitchFamily="18" charset="0"/>
                <a:cs typeface="Times New Roman" panose="02020603050405020304" pitchFamily="18" charset="0"/>
              </a:rPr>
              <a:t>Analysis of Problem Statement</a:t>
            </a:r>
            <a:endParaRPr lang="en-IN" dirty="0">
              <a:latin typeface="Times New Roman" panose="02020603050405020304" pitchFamily="18" charset="0"/>
              <a:cs typeface="Times New Roman" panose="02020603050405020304" pitchFamily="18" charset="0"/>
            </a:endParaRPr>
          </a:p>
        </p:txBody>
      </p:sp>
      <p:sp>
        <p:nvSpPr>
          <p:cNvPr id="5" name="Rectangle 2"/>
          <p:cNvSpPr>
            <a:spLocks noChangeArrowheads="1"/>
          </p:cNvSpPr>
          <p:nvPr/>
        </p:nvSpPr>
        <p:spPr bwMode="auto">
          <a:xfrm>
            <a:off x="694814" y="1093316"/>
            <a:ext cx="9425695" cy="5032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Technology Stack</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Backend: Python with Flask</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Frontend</a:t>
            </a:r>
            <a:r>
              <a:rPr lang="en-IN" sz="1800">
                <a:latin typeface="Times New Roman" panose="02020603050405020304" pitchFamily="18" charset="0"/>
                <a:cs typeface="Times New Roman" panose="02020603050405020304" pitchFamily="18" charset="0"/>
              </a:rPr>
              <a:t>: React JavaScript</a:t>
            </a:r>
            <a:endParaRPr lang="en-IN"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Database: MySQL/PostgreSQL</a:t>
            </a:r>
          </a:p>
          <a:p>
            <a:endParaRPr lang="en-IN"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Proposed Methodology</a:t>
            </a:r>
            <a:endParaRPr lang="en-IN"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Collect disaster preparedness guidelines and safety content.</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Categorize disasters (earthquake, flood, fire, cyclone).</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Design scenario-based virtual drill workflows.</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Develop backend logic for drill evaluation and scoring.</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Create a simple frontend for learning and drill interaction.</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Store user activity and scores.</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Evaluate system based on preparedness score and participation.</a:t>
            </a:r>
          </a:p>
          <a:p>
            <a:pPr lvl="0" eaLnBrk="0" fontAlgn="base" hangingPunct="0">
              <a:spcBef>
                <a:spcPct val="0"/>
              </a:spcBef>
              <a:spcAft>
                <a:spcPct val="0"/>
              </a:spcAft>
              <a:buClrTx/>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55732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99B37-1BF4-B943-7AE1-8B60571C829F}"/>
              </a:ext>
            </a:extLst>
          </p:cNvPr>
          <p:cNvSpPr>
            <a:spLocks noGrp="1"/>
          </p:cNvSpPr>
          <p:nvPr>
            <p:ph type="title"/>
          </p:nvPr>
        </p:nvSpPr>
        <p:spPr>
          <a:xfrm>
            <a:off x="705708" y="307589"/>
            <a:ext cx="10668000" cy="487500"/>
          </a:xfrm>
        </p:spPr>
        <p:txBody>
          <a:bodyPr/>
          <a:lstStyle/>
          <a:p>
            <a:r>
              <a:rPr lang="en-IN" dirty="0">
                <a:latin typeface="Times New Roman" panose="02020603050405020304" pitchFamily="18" charset="0"/>
                <a:cs typeface="Times New Roman" panose="02020603050405020304" pitchFamily="18" charset="0"/>
              </a:rPr>
              <a:t>Innovation / Novel Contributions</a:t>
            </a:r>
          </a:p>
        </p:txBody>
      </p:sp>
      <p:sp>
        <p:nvSpPr>
          <p:cNvPr id="4" name="Rectangle 1">
            <a:extLst>
              <a:ext uri="{FF2B5EF4-FFF2-40B4-BE49-F238E27FC236}">
                <a16:creationId xmlns:a16="http://schemas.microsoft.com/office/drawing/2014/main" id="{1D9F93D9-04A8-F65A-DD66-A54640F757AA}"/>
              </a:ext>
            </a:extLst>
          </p:cNvPr>
          <p:cNvSpPr>
            <a:spLocks noChangeArrowheads="1"/>
          </p:cNvSpPr>
          <p:nvPr/>
        </p:nvSpPr>
        <p:spPr bwMode="auto">
          <a:xfrm>
            <a:off x="650446" y="1074509"/>
            <a:ext cx="10835846"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Virtual Disaster Drill Simulation</a:t>
            </a:r>
            <a:endParaRPr lang="en-US" sz="20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Scenario-based drills to simulate real disaster response digitally.</a:t>
            </a:r>
          </a:p>
          <a:p>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Preparedness Scoring System</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Quantitative scoring based on learning, drill performance, and consistency.</a:t>
            </a:r>
          </a:p>
          <a:p>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Institution-Centric Design</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Designed specifically for schools and colleges with role-based access</a:t>
            </a:r>
            <a:r>
              <a:rPr lang="en-US" sz="2000" dirty="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Region-Specific Disaster Awareness</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Focus on disasters relevant to the geographical location.</a:t>
            </a:r>
          </a:p>
          <a:p>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Lightweight and Scalable System</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Simple initial design, scalable for future enhancements.</a:t>
            </a:r>
          </a:p>
          <a:p>
            <a:pPr lvl="0" eaLnBrk="0" fontAlgn="base" hangingPunct="0">
              <a:spcBef>
                <a:spcPct val="0"/>
              </a:spcBef>
              <a:spcAft>
                <a:spcPct val="0"/>
              </a:spcAft>
              <a:buClrTx/>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71571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68150"/>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Times New Roman" panose="02020603050405020304" pitchFamily="18" charset="0"/>
                <a:ea typeface="Cambria" panose="02040503050406030204" pitchFamily="18" charset="0"/>
                <a:cs typeface="Times New Roman" panose="020206030504050203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965200" y="1295400"/>
            <a:ext cx="10668000" cy="4421488"/>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a:p>
            <a:pPr marL="342900" indent="-190500" algn="just">
              <a:spcBef>
                <a:spcPts val="0"/>
              </a:spcBef>
              <a:buSzPct val="100000"/>
              <a:buFont typeface="Arial"/>
              <a:buNone/>
            </a:pP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a:p>
            <a:pPr marL="342900" indent="-190500" algn="just">
              <a:spcBef>
                <a:spcPts val="0"/>
              </a:spcBef>
              <a:buSzPct val="100000"/>
              <a:buFont typeface="Arial"/>
              <a:buNone/>
            </a:pPr>
            <a:r>
              <a:rPr lang="en-US" sz="2800" b="1" dirty="0">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rPr>
              <a:t>GitHub Link:</a:t>
            </a:r>
          </a:p>
          <a:p>
            <a:pPr marL="342900" indent="-190500" algn="just">
              <a:spcBef>
                <a:spcPts val="0"/>
              </a:spcBef>
              <a:buSzPct val="100000"/>
              <a:buFont typeface="Arial"/>
              <a:buNone/>
            </a:pPr>
            <a:endParaRPr lang="en-US" sz="2800" b="1" dirty="0">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hlinkClick r:id="rId3"/>
            </a:endParaRPr>
          </a:p>
          <a:p>
            <a:pPr marL="342900" indent="-190500" algn="just">
              <a:spcBef>
                <a:spcPts val="0"/>
              </a:spcBef>
              <a:buSzPct val="100000"/>
              <a:buNone/>
            </a:pPr>
            <a:r>
              <a:rPr lang="en-US" sz="1800" b="1" dirty="0">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hlinkClick r:id="rId4"/>
              </a:rPr>
              <a:t>https://github.com/dhanyadt/disaster-management</a:t>
            </a:r>
            <a:endParaRPr lang="en-US" dirty="0">
              <a:solidFill>
                <a:schemeClr val="bg2">
                  <a:lumMod val="60000"/>
                  <a:lumOff val="40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CF65E00C-F6CC-31FA-1BAF-02752A35553A}"/>
              </a:ext>
            </a:extLst>
          </p:cNvPr>
          <p:cNvPicPr>
            <a:picLocks noChangeAspect="1"/>
          </p:cNvPicPr>
          <p:nvPr/>
        </p:nvPicPr>
        <p:blipFill>
          <a:blip r:embed="rId3"/>
          <a:srcRect t="6781"/>
          <a:stretch>
            <a:fillRect/>
          </a:stretch>
        </p:blipFill>
        <p:spPr>
          <a:xfrm>
            <a:off x="711200" y="1238066"/>
            <a:ext cx="10769600" cy="4762868"/>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499"/>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Times New Roman" panose="02020603050405020304" pitchFamily="18" charset="0"/>
                <a:ea typeface="Cambria" panose="02040503050406030204" pitchFamily="18" charset="0"/>
                <a:cs typeface="Times New Roman" panose="02020603050405020304" pitchFamily="18" charset="0"/>
              </a:rPr>
              <a:t>References </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8" name="Text Placeholder 7">
            <a:extLst>
              <a:ext uri="{FF2B5EF4-FFF2-40B4-BE49-F238E27FC236}">
                <a16:creationId xmlns:a16="http://schemas.microsoft.com/office/drawing/2014/main" id="{83BCDEC2-81DA-1DE7-CAE7-3D2B9D99A562}"/>
              </a:ext>
            </a:extLst>
          </p:cNvPr>
          <p:cNvSpPr>
            <a:spLocks noGrp="1"/>
          </p:cNvSpPr>
          <p:nvPr>
            <p:ph type="body" idx="1"/>
          </p:nvPr>
        </p:nvSpPr>
        <p:spPr>
          <a:xfrm>
            <a:off x="762000" y="1201995"/>
            <a:ext cx="10668000" cy="4953000"/>
          </a:xfrm>
        </p:spPr>
        <p:txBody>
          <a:bodyPr>
            <a:normAutofit/>
          </a:bodyPr>
          <a:lstStyle/>
          <a:p>
            <a:pPr>
              <a:lnSpc>
                <a:spcPct val="150000"/>
              </a:lnSpc>
            </a:pPr>
            <a:r>
              <a:rPr lang="en-US" sz="2000" dirty="0">
                <a:latin typeface="Times New Roman" panose="02020603050405020304" pitchFamily="18" charset="0"/>
                <a:cs typeface="Times New Roman" panose="02020603050405020304" pitchFamily="18" charset="0"/>
              </a:rPr>
              <a:t>United Nations Office for Disaster Risk Reduction (UNDRR), </a:t>
            </a:r>
            <a:r>
              <a:rPr lang="en-US" sz="2000" i="1" dirty="0">
                <a:latin typeface="Times New Roman" panose="02020603050405020304" pitchFamily="18" charset="0"/>
                <a:cs typeface="Times New Roman" panose="02020603050405020304" pitchFamily="18" charset="0"/>
              </a:rPr>
              <a:t>Disaster Risk Reduction in Schools</a:t>
            </a:r>
            <a:r>
              <a:rPr lang="en-US" sz="2000" dirty="0">
                <a:latin typeface="Times New Roman" panose="02020603050405020304" pitchFamily="18" charset="0"/>
                <a:cs typeface="Times New Roman" panose="02020603050405020304" pitchFamily="18" charset="0"/>
              </a:rPr>
              <a:t>, UNDRR Publications, 2020.</a:t>
            </a:r>
          </a:p>
          <a:p>
            <a:pPr>
              <a:lnSpc>
                <a:spcPct val="150000"/>
              </a:lnSpc>
            </a:pPr>
            <a:r>
              <a:rPr lang="en-US" sz="2000" dirty="0">
                <a:latin typeface="Times New Roman" panose="02020603050405020304" pitchFamily="18" charset="0"/>
                <a:cs typeface="Times New Roman" panose="02020603050405020304" pitchFamily="18" charset="0"/>
              </a:rPr>
              <a:t>Federal Emergency Management Agency (FEMA), </a:t>
            </a:r>
            <a:r>
              <a:rPr lang="en-US" sz="2000" i="1" dirty="0">
                <a:latin typeface="Times New Roman" panose="02020603050405020304" pitchFamily="18" charset="0"/>
                <a:cs typeface="Times New Roman" panose="02020603050405020304" pitchFamily="18" charset="0"/>
              </a:rPr>
              <a:t>Guide for Developing High-Quality School Emergency Operations Plans</a:t>
            </a:r>
            <a:r>
              <a:rPr lang="en-US" sz="2000" dirty="0">
                <a:latin typeface="Times New Roman" panose="02020603050405020304" pitchFamily="18" charset="0"/>
                <a:cs typeface="Times New Roman" panose="02020603050405020304" pitchFamily="18" charset="0"/>
              </a:rPr>
              <a:t>, U.S. Department of Education, 2019.</a:t>
            </a:r>
          </a:p>
          <a:p>
            <a:pPr>
              <a:lnSpc>
                <a:spcPct val="150000"/>
              </a:lnSpc>
            </a:pPr>
            <a:r>
              <a:rPr lang="en-US" sz="2000" dirty="0">
                <a:latin typeface="Times New Roman" panose="02020603050405020304" pitchFamily="18" charset="0"/>
                <a:cs typeface="Times New Roman" panose="02020603050405020304" pitchFamily="18" charset="0"/>
              </a:rPr>
              <a:t>World Health Organization (WHO), </a:t>
            </a:r>
            <a:r>
              <a:rPr lang="en-US" sz="2000" i="1" dirty="0">
                <a:latin typeface="Times New Roman" panose="02020603050405020304" pitchFamily="18" charset="0"/>
                <a:cs typeface="Times New Roman" panose="02020603050405020304" pitchFamily="18" charset="0"/>
              </a:rPr>
              <a:t>Emergency and Disaster Risk Management Framework</a:t>
            </a:r>
            <a:r>
              <a:rPr lang="en-US" sz="2000" dirty="0">
                <a:latin typeface="Times New Roman" panose="02020603050405020304" pitchFamily="18" charset="0"/>
                <a:cs typeface="Times New Roman" panose="02020603050405020304" pitchFamily="18" charset="0"/>
              </a:rPr>
              <a:t>, WHO Press, 2017.</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1498</TotalTime>
  <Words>631</Words>
  <Application>Microsoft Office PowerPoint</Application>
  <PresentationFormat>Widescreen</PresentationFormat>
  <Paragraphs>98</Paragraphs>
  <Slides>11</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Cambria</vt:lpstr>
      <vt:lpstr>Times New Roman</vt:lpstr>
      <vt:lpstr>Verdana</vt:lpstr>
      <vt:lpstr>Wingdings</vt:lpstr>
      <vt:lpstr>Bioinformatics</vt:lpstr>
      <vt:lpstr>Disaster Preparedness and Response Education System for Schools and Colleges``</vt:lpstr>
      <vt:lpstr>PowerPoint Presentation</vt:lpstr>
      <vt:lpstr>Problem Statement Number: SIH 25008</vt:lpstr>
      <vt:lpstr>Objectives:</vt:lpstr>
      <vt:lpstr>Background and Related work for Title Selection </vt:lpstr>
      <vt:lpstr>Analysis of Problem Statement</vt:lpstr>
      <vt:lpstr>Innovation / Novel Contributions</vt:lpstr>
      <vt:lpstr>Github Link</vt:lpstr>
      <vt:lpstr>Timeline of the Project (Gantt Chart)</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Dhanya D T</cp:lastModifiedBy>
  <cp:revision>75</cp:revision>
  <dcterms:modified xsi:type="dcterms:W3CDTF">2026-01-13T05:17:57Z</dcterms:modified>
</cp:coreProperties>
</file>