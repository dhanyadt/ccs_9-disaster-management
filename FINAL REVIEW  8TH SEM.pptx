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56" r:id="rId2"/>
    <p:sldId id="276" r:id="rId3"/>
    <p:sldId id="280" r:id="rId4"/>
    <p:sldId id="282" r:id="rId5"/>
    <p:sldId id="289" r:id="rId6"/>
    <p:sldId id="290" r:id="rId7"/>
    <p:sldId id="286" r:id="rId8"/>
    <p:sldId id="268" r:id="rId9"/>
    <p:sldId id="266"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BC08E0-E526-48A4-9CAE-98143903298D}" v="6" dt="2026-02-04T03:19:52.174"/>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29" y="6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68114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1">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link.springer.com/article/10.1007/s44217-025-00771-5" TargetMode="External"/><Relationship Id="rId2" Type="http://schemas.openxmlformats.org/officeDocument/2006/relationships/hyperlink" Target="https://www.frontiersin.org/journals/communication/articles/10.3389/fcomm.2025.1632436/full" TargetMode="External"/><Relationship Id="rId1" Type="http://schemas.openxmlformats.org/officeDocument/2006/relationships/slideLayout" Target="../slideLayouts/slideLayout2.xml"/><Relationship Id="rId6" Type="http://schemas.openxmlformats.org/officeDocument/2006/relationships/hyperlink" Target="https://www.worldbank.org/en/topic/disasterriskmanagement/overview" TargetMode="External"/><Relationship Id="rId5" Type="http://schemas.openxmlformats.org/officeDocument/2006/relationships/hyperlink" Target="https://pmc.ncbi.nlm.nih.gov/articles/PMC8838598/" TargetMode="External"/><Relationship Id="rId4" Type="http://schemas.openxmlformats.org/officeDocument/2006/relationships/hyperlink" Target="https://en.wikipedia.org/wiki/Sahana_Software_Foundation"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dhanyadt/contact-center-.git"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github.com/dhanyadt/disaster-management"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914400" y="1218889"/>
            <a:ext cx="10363200" cy="962898"/>
          </a:xfrm>
          <a:prstGeom prst="rect">
            <a:avLst/>
          </a:prstGeom>
          <a:noFill/>
          <a:ln>
            <a:noFill/>
          </a:ln>
        </p:spPr>
        <p:txBody>
          <a:bodyPr spcFirstLastPara="1" wrap="square" lIns="91425" tIns="45700" rIns="91425" bIns="45700" anchor="ctr" anchorCtr="0">
            <a:noAutofit/>
          </a:bodyPr>
          <a:lstStyle/>
          <a:p>
            <a:pPr lvl="0" algn="ctr"/>
            <a:r>
              <a:rPr lang="en-US" dirty="0">
                <a:latin typeface="Times New Roman" panose="02020603050405020304" pitchFamily="18" charset="0"/>
                <a:cs typeface="Times New Roman" panose="02020603050405020304" pitchFamily="18" charset="0"/>
              </a:rPr>
              <a:t>Disaster Preparedness and Response Education System for Schools and Colleges``</a:t>
            </a:r>
            <a:endParaRPr dirty="0">
              <a:solidFill>
                <a:schemeClr val="bg2">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90" name="Google Shape;90;p13"/>
          <p:cNvSpPr txBox="1"/>
          <p:nvPr/>
        </p:nvSpPr>
        <p:spPr>
          <a:xfrm>
            <a:off x="7033542" y="2721840"/>
            <a:ext cx="5514300" cy="1812060"/>
          </a:xfrm>
          <a:prstGeom prst="rect">
            <a:avLst/>
          </a:prstGeom>
          <a:noFill/>
          <a:ln>
            <a:noFill/>
          </a:ln>
        </p:spPr>
        <p:txBody>
          <a:bodyPr spcFirstLastPara="1" wrap="square" lIns="91425" tIns="45700" rIns="91425" bIns="45700" anchor="t" anchorCtr="0">
            <a:normAutofit/>
          </a:bodyPr>
          <a:lstStyle/>
          <a:p>
            <a:pPr marL="0" marR="0" lvl="0" indent="0" rtl="0">
              <a:spcBef>
                <a:spcPts val="0"/>
              </a:spcBef>
              <a:spcAft>
                <a:spcPts val="0"/>
              </a:spcAft>
              <a:buClr>
                <a:srgbClr val="17365D"/>
              </a:buClr>
              <a:buSzPts val="2000"/>
              <a:buFont typeface="Arial"/>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Under the Supervision of,</a:t>
            </a:r>
            <a:endParaRPr lang="en-GB" sz="1800" i="0" u="none" strike="noStrike" cap="none" dirty="0">
              <a:latin typeface="Times New Roman" panose="02020603050405020304" pitchFamily="18" charset="0"/>
              <a:ea typeface="Cambria" panose="02040503050406030204" pitchFamily="18" charset="0"/>
              <a:cs typeface="Times New Roman" panose="02020603050405020304" pitchFamily="18" charset="0"/>
            </a:endParaRPr>
          </a:p>
          <a:p>
            <a:pPr lvl="0">
              <a:buClr>
                <a:srgbClr val="17365D"/>
              </a:buClr>
              <a:buSzPts val="2000"/>
            </a:pPr>
            <a:r>
              <a:rPr lang="en-GB"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Dr. Ramesh Sengodan</a:t>
            </a:r>
          </a:p>
          <a:p>
            <a:pPr lvl="0">
              <a:buClr>
                <a:srgbClr val="17365D"/>
              </a:buClr>
              <a:buSzPts val="2000"/>
            </a:pPr>
            <a:r>
              <a:rPr lang="en-GB"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Professor</a:t>
            </a:r>
            <a:endParaRPr sz="18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rtl="0">
              <a:spcBef>
                <a:spcPts val="340"/>
              </a:spcBef>
              <a:spcAft>
                <a:spcPts val="0"/>
              </a:spcAft>
              <a:buClr>
                <a:srgbClr val="17365D"/>
              </a:buClr>
              <a:buSzPts val="1700"/>
              <a:buFont typeface="Arial"/>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School of Computer Science and Engineering</a:t>
            </a:r>
            <a:endParaRPr lang="en-GB"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rtl="0">
              <a:spcBef>
                <a:spcPts val="340"/>
              </a:spcBef>
              <a:spcAft>
                <a:spcPts val="0"/>
              </a:spcAft>
              <a:buClr>
                <a:srgbClr val="17365D"/>
              </a:buClr>
              <a:buSzPts val="1700"/>
              <a:buFont typeface="Arial"/>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Presidency University</a:t>
            </a:r>
            <a:endParaRPr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836727495"/>
              </p:ext>
            </p:extLst>
          </p:nvPr>
        </p:nvGraphicFramePr>
        <p:xfrm>
          <a:off x="545109" y="2524133"/>
          <a:ext cx="5427323" cy="1817208"/>
        </p:xfrm>
        <a:graphic>
          <a:graphicData uri="http://schemas.openxmlformats.org/drawingml/2006/table">
            <a:tbl>
              <a:tblPr firstRow="1" bandRow="1">
                <a:tableStyleId>{3C2FFA5D-87B4-456A-9821-1D502468CF0F}</a:tableStyleId>
              </a:tblPr>
              <a:tblGrid>
                <a:gridCol w="2050405">
                  <a:extLst>
                    <a:ext uri="{9D8B030D-6E8A-4147-A177-3AD203B41FA5}">
                      <a16:colId xmlns:a16="http://schemas.microsoft.com/office/drawing/2014/main" val="20000"/>
                    </a:ext>
                  </a:extLst>
                </a:gridCol>
                <a:gridCol w="3376918">
                  <a:extLst>
                    <a:ext uri="{9D8B030D-6E8A-4147-A177-3AD203B41FA5}">
                      <a16:colId xmlns:a16="http://schemas.microsoft.com/office/drawing/2014/main" val="20001"/>
                    </a:ext>
                  </a:extLst>
                </a:gridCol>
              </a:tblGrid>
              <a:tr h="407440">
                <a:tc>
                  <a:txBody>
                    <a:bodyPr/>
                    <a:lstStyle/>
                    <a:p>
                      <a:pPr marL="0" marR="0" lvl="1" indent="0" algn="ctr" rtl="0">
                        <a:spcBef>
                          <a:spcPts val="0"/>
                        </a:spcBef>
                        <a:spcAft>
                          <a:spcPts val="0"/>
                        </a:spcAft>
                        <a:buNone/>
                      </a:pPr>
                      <a:r>
                        <a:rPr lang="en-GB" sz="1800" u="none" strike="noStrike" cap="none" dirty="0"/>
                        <a:t>Roll Number</a:t>
                      </a:r>
                      <a:endParaRPr sz="1800" b="1" u="none" strike="noStrike" cap="none" dirty="0">
                        <a:solidFill>
                          <a:srgbClr val="17365D"/>
                        </a:solidFill>
                      </a:endParaRPr>
                    </a:p>
                  </a:txBody>
                  <a:tcPr marL="91450" marR="91450" marT="45725" marB="45725" anchor="ctr"/>
                </a:tc>
                <a:tc>
                  <a:txBody>
                    <a:bodyPr/>
                    <a:lstStyle/>
                    <a:p>
                      <a:pPr marL="0" marR="0" lvl="0" indent="0" algn="ctr" rtl="0">
                        <a:spcBef>
                          <a:spcPts val="0"/>
                        </a:spcBef>
                        <a:spcAft>
                          <a:spcPts val="0"/>
                        </a:spcAft>
                        <a:buNone/>
                      </a:pPr>
                      <a:r>
                        <a:rPr lang="en-GB" sz="1800" u="none" strike="noStrike" cap="none" dirty="0"/>
                        <a:t>Student Name</a:t>
                      </a:r>
                      <a:endParaRPr sz="1800" b="1" u="none" strike="noStrike" cap="none" dirty="0">
                        <a:solidFill>
                          <a:srgbClr val="17365D"/>
                        </a:solidFill>
                      </a:endParaRPr>
                    </a:p>
                  </a:txBody>
                  <a:tcPr marL="91450" marR="91450" marT="45725" marB="45725" anchor="ctr"/>
                </a:tc>
                <a:extLst>
                  <a:ext uri="{0D108BD9-81ED-4DB2-BD59-A6C34878D82A}">
                    <a16:rowId xmlns:a16="http://schemas.microsoft.com/office/drawing/2014/main" val="10000"/>
                  </a:ext>
                </a:extLst>
              </a:tr>
              <a:tr h="594888">
                <a:tc>
                  <a:txBody>
                    <a:bodyPr/>
                    <a:lstStyle/>
                    <a:p>
                      <a:pPr marL="0" marR="0" lvl="0" indent="0" algn="ctr" rtl="0">
                        <a:spcBef>
                          <a:spcPts val="0"/>
                        </a:spcBef>
                        <a:spcAft>
                          <a:spcPts val="0"/>
                        </a:spcAft>
                        <a:buFont typeface="+mj-lt"/>
                        <a:buNone/>
                      </a:pPr>
                      <a:r>
                        <a:rPr lang="en-US" sz="1800" dirty="0"/>
                        <a:t>20221CCS0115 </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en-US" sz="1800" u="none" strike="noStrike" cap="none" dirty="0"/>
                        <a:t>DHANYA D T</a:t>
                      </a:r>
                      <a:endParaRPr sz="1800" u="none" strike="noStrike" cap="none" dirty="0"/>
                    </a:p>
                  </a:txBody>
                  <a:tcPr marL="91450" marR="91450" marT="45725" marB="45725" anchor="ctr"/>
                </a:tc>
                <a:extLst>
                  <a:ext uri="{0D108BD9-81ED-4DB2-BD59-A6C34878D82A}">
                    <a16:rowId xmlns:a16="http://schemas.microsoft.com/office/drawing/2014/main" val="10001"/>
                  </a:ext>
                </a:extLst>
              </a:tr>
              <a:tr h="407440">
                <a:tc>
                  <a:txBody>
                    <a:bodyPr/>
                    <a:lstStyle/>
                    <a:p>
                      <a:pPr marL="0" marR="0" lvl="0" indent="0" algn="ctr" rtl="0">
                        <a:spcBef>
                          <a:spcPts val="0"/>
                        </a:spcBef>
                        <a:spcAft>
                          <a:spcPts val="0"/>
                        </a:spcAft>
                        <a:buNone/>
                      </a:pPr>
                      <a:r>
                        <a:rPr lang="en-US" sz="1800" dirty="0"/>
                        <a:t>20221CCS0113</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en-US" sz="1800" u="none" strike="noStrike" cap="none" dirty="0"/>
                        <a:t>C NIHARIKA</a:t>
                      </a:r>
                      <a:endParaRPr sz="1800" u="none" strike="noStrike" cap="none" dirty="0"/>
                    </a:p>
                  </a:txBody>
                  <a:tcPr marL="91450" marR="91450" marT="45725" marB="45725" anchor="ctr"/>
                </a:tc>
                <a:extLst>
                  <a:ext uri="{0D108BD9-81ED-4DB2-BD59-A6C34878D82A}">
                    <a16:rowId xmlns:a16="http://schemas.microsoft.com/office/drawing/2014/main" val="10002"/>
                  </a:ext>
                </a:extLst>
              </a:tr>
              <a:tr h="407440">
                <a:tc>
                  <a:txBody>
                    <a:bodyPr/>
                    <a:lstStyle/>
                    <a:p>
                      <a:pPr marL="0" marR="0" lvl="0" indent="0" algn="ctr" rtl="0">
                        <a:spcBef>
                          <a:spcPts val="0"/>
                        </a:spcBef>
                        <a:spcAft>
                          <a:spcPts val="0"/>
                        </a:spcAft>
                        <a:buNone/>
                      </a:pPr>
                      <a:r>
                        <a:rPr lang="en-US" sz="1800" dirty="0"/>
                        <a:t>20221CCS0128</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en-IN" sz="1800" u="none" strike="noStrike" cap="none" dirty="0"/>
                        <a:t>BHAVANI</a:t>
                      </a:r>
                      <a:endParaRPr sz="1800" u="none" strike="noStrike" cap="none" dirty="0"/>
                    </a:p>
                  </a:txBody>
                  <a:tcPr marL="91450" marR="91450" marT="45725" marB="45725" anchor="ctr"/>
                </a:tc>
                <a:extLst>
                  <a:ext uri="{0D108BD9-81ED-4DB2-BD59-A6C34878D82A}">
                    <a16:rowId xmlns:a16="http://schemas.microsoft.com/office/drawing/2014/main" val="10003"/>
                  </a:ext>
                </a:extLst>
              </a:tr>
            </a:tbl>
          </a:graphicData>
        </a:graphic>
      </p:graphicFrame>
      <p:sp>
        <p:nvSpPr>
          <p:cNvPr id="91" name="Google Shape;91;p13"/>
          <p:cNvSpPr txBox="1"/>
          <p:nvPr/>
        </p:nvSpPr>
        <p:spPr>
          <a:xfrm>
            <a:off x="3540148" y="147172"/>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endParaRPr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Review-2</a:t>
            </a:r>
            <a:endParaRPr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sp>
        <p:nvSpPr>
          <p:cNvPr id="8" name="Google Shape;91;p13"/>
          <p:cNvSpPr txBox="1"/>
          <p:nvPr/>
        </p:nvSpPr>
        <p:spPr>
          <a:xfrm>
            <a:off x="442452"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Program: </a:t>
            </a:r>
            <a:r>
              <a:rPr lang="en-US" sz="18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B.TECH</a:t>
            </a:r>
            <a:endParaRPr lang="en-US"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lvl="0">
              <a:buClr>
                <a:srgbClr val="17365D"/>
              </a:buClr>
              <a:buSzPct val="100000"/>
            </a:pPr>
            <a:r>
              <a:rPr lang="en-US" sz="18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HOD: </a:t>
            </a:r>
            <a:r>
              <a:rPr lang="en-US" sz="18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Dr. Anandaraj S.P</a:t>
            </a:r>
          </a:p>
          <a:p>
            <a:pPr lvl="0">
              <a:buClr>
                <a:srgbClr val="17365D"/>
              </a:buClr>
              <a:buSzPct val="100000"/>
            </a:pPr>
            <a:r>
              <a:rPr lang="en-US" sz="1800" b="1" i="0" u="none" strike="noStrike" cap="none"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Program Project Coordinator: </a:t>
            </a:r>
            <a:r>
              <a:rPr lang="en-IN" sz="1800" b="1" dirty="0">
                <a:latin typeface="Times New Roman" panose="02020603050405020304" pitchFamily="18" charset="0"/>
                <a:ea typeface="Cambria" panose="02040503050406030204" pitchFamily="18" charset="0"/>
                <a:cs typeface="Times New Roman" panose="02020603050405020304" pitchFamily="18" charset="0"/>
              </a:rPr>
              <a:t>Dr. </a:t>
            </a:r>
            <a:r>
              <a:rPr lang="en-IN" sz="1800" b="1" dirty="0" err="1">
                <a:latin typeface="Times New Roman" panose="02020603050405020304" pitchFamily="18" charset="0"/>
                <a:ea typeface="Cambria" panose="02040503050406030204" pitchFamily="18" charset="0"/>
                <a:cs typeface="Times New Roman" panose="02020603050405020304" pitchFamily="18" charset="0"/>
              </a:rPr>
              <a:t>Sharmasth</a:t>
            </a:r>
            <a:r>
              <a:rPr lang="en-IN" sz="1800" b="1" dirty="0">
                <a:latin typeface="Times New Roman" panose="02020603050405020304" pitchFamily="18" charset="0"/>
                <a:ea typeface="Cambria" panose="02040503050406030204" pitchFamily="18" charset="0"/>
                <a:cs typeface="Times New Roman" panose="02020603050405020304" pitchFamily="18" charset="0"/>
              </a:rPr>
              <a:t> Vali</a:t>
            </a:r>
          </a:p>
          <a:p>
            <a:pPr lvl="0">
              <a:buClr>
                <a:srgbClr val="17365D"/>
              </a:buClr>
              <a:buSzPct val="100000"/>
            </a:pPr>
            <a:r>
              <a:rPr lang="en-US" sz="18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School Project Coordinators: </a:t>
            </a:r>
            <a:r>
              <a:rPr lang="en-US"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Dr. Sampath A K , Dr. Geetha A </a:t>
            </a:r>
            <a:endParaRPr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65BDC7A-28D3-EF67-017A-3872CF05B2DC}"/>
              </a:ext>
            </a:extLst>
          </p:cNvPr>
          <p:cNvSpPr>
            <a:spLocks noGrp="1"/>
          </p:cNvSpPr>
          <p:nvPr>
            <p:ph type="body" idx="1"/>
          </p:nvPr>
        </p:nvSpPr>
        <p:spPr>
          <a:xfrm>
            <a:off x="845850" y="1143001"/>
            <a:ext cx="10668000" cy="4953000"/>
          </a:xfrm>
        </p:spPr>
        <p:txBody>
          <a:bodyPr>
            <a:normAutofit/>
          </a:bodyPr>
          <a:lstStyle/>
          <a:p>
            <a:pPr marL="495300" indent="-342900" algn="just">
              <a:lnSpc>
                <a:spcPct val="200000"/>
              </a:lnSpc>
              <a:spcBef>
                <a:spcPts val="0"/>
              </a:spcBef>
              <a:buFont typeface="Arial" panose="020B0604020202020204" pitchFamily="34" charset="0"/>
              <a:buChar char="•"/>
            </a:pPr>
            <a:r>
              <a:rPr lang="en-US" sz="1600" dirty="0">
                <a:latin typeface="Times New Roman" panose="02020603050405020304" pitchFamily="18" charset="0"/>
                <a:ea typeface="Cambria" panose="02040503050406030204" pitchFamily="18" charset="0"/>
                <a:cs typeface="Times New Roman" panose="02020603050405020304" pitchFamily="18" charset="0"/>
              </a:rPr>
              <a:t>Abstract</a:t>
            </a:r>
          </a:p>
          <a:p>
            <a:pPr marL="438150" indent="-285750" algn="just">
              <a:lnSpc>
                <a:spcPct val="200000"/>
              </a:lnSpc>
              <a:spcBef>
                <a:spcPts val="0"/>
              </a:spcBef>
            </a:pPr>
            <a:r>
              <a:rPr lang="en-US" sz="1600" dirty="0">
                <a:latin typeface="Times New Roman" panose="02020603050405020304" pitchFamily="18" charset="0"/>
                <a:ea typeface="Cambria" panose="02040503050406030204" pitchFamily="18" charset="0"/>
                <a:cs typeface="Times New Roman" panose="02020603050405020304" pitchFamily="18" charset="0"/>
              </a:rPr>
              <a:t> Literature Review</a:t>
            </a:r>
          </a:p>
          <a:p>
            <a:pPr marL="495300" indent="-342900" algn="just">
              <a:lnSpc>
                <a:spcPct val="200000"/>
              </a:lnSpc>
              <a:spcBef>
                <a:spcPts val="0"/>
              </a:spcBef>
              <a:buFont typeface="Arial" panose="020B0604020202020204" pitchFamily="34" charset="0"/>
              <a:buChar char="•"/>
            </a:pPr>
            <a:r>
              <a:rPr lang="en-US" sz="1600" dirty="0">
                <a:latin typeface="Times New Roman" panose="02020603050405020304" pitchFamily="18" charset="0"/>
                <a:ea typeface="Cambria" panose="02040503050406030204" pitchFamily="18" charset="0"/>
                <a:cs typeface="Times New Roman" panose="02020603050405020304" pitchFamily="18" charset="0"/>
              </a:rPr>
              <a:t>Objectives</a:t>
            </a:r>
          </a:p>
          <a:p>
            <a:pPr marL="495300" lvl="0" indent="-342900" algn="just">
              <a:lnSpc>
                <a:spcPct val="200000"/>
              </a:lnSpc>
              <a:spcBef>
                <a:spcPts val="0"/>
              </a:spcBef>
              <a:buFont typeface="Arial" panose="020B0604020202020204" pitchFamily="34" charset="0"/>
              <a:buChar char="•"/>
            </a:pPr>
            <a:r>
              <a:rPr lang="en-US" sz="1600" dirty="0">
                <a:latin typeface="Times New Roman" panose="02020603050405020304" pitchFamily="18" charset="0"/>
                <a:ea typeface="Cambria" panose="02040503050406030204" pitchFamily="18" charset="0"/>
                <a:cs typeface="Times New Roman" panose="02020603050405020304" pitchFamily="18" charset="0"/>
              </a:rPr>
              <a:t>Architecture design</a:t>
            </a:r>
            <a:endParaRPr lang="en-US" sz="2000"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US" sz="1600" dirty="0">
                <a:latin typeface="Times New Roman" panose="02020603050405020304" pitchFamily="18" charset="0"/>
                <a:ea typeface="Cambria" panose="02040503050406030204" pitchFamily="18" charset="0"/>
                <a:cs typeface="Times New Roman" panose="02020603050405020304" pitchFamily="18" charset="0"/>
              </a:rPr>
              <a:t>Modules</a:t>
            </a:r>
          </a:p>
          <a:p>
            <a:pPr marL="495300" lvl="0" indent="-342900" algn="just">
              <a:lnSpc>
                <a:spcPct val="200000"/>
              </a:lnSpc>
              <a:spcBef>
                <a:spcPts val="0"/>
              </a:spcBef>
              <a:buFont typeface="Arial" panose="020B0604020202020204" pitchFamily="34" charset="0"/>
              <a:buChar char="•"/>
            </a:pPr>
            <a:r>
              <a:rPr lang="en-US" sz="1600" dirty="0">
                <a:latin typeface="Times New Roman" panose="02020603050405020304" pitchFamily="18" charset="0"/>
                <a:ea typeface="Cambria" panose="02040503050406030204" pitchFamily="18" charset="0"/>
                <a:cs typeface="Times New Roman" panose="02020603050405020304" pitchFamily="18" charset="0"/>
              </a:rPr>
              <a:t>References</a:t>
            </a:r>
          </a:p>
          <a:p>
            <a:pPr marL="76200" indent="0">
              <a:buNone/>
            </a:pPr>
            <a:endParaRPr lang="en-US" sz="16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539D017-31F4-666B-F476-A1BF15ECFFF7}"/>
              </a:ext>
            </a:extLst>
          </p:cNvPr>
          <p:cNvSpPr txBox="1"/>
          <p:nvPr/>
        </p:nvSpPr>
        <p:spPr>
          <a:xfrm>
            <a:off x="-491237" y="954959"/>
            <a:ext cx="9187543" cy="2095498"/>
          </a:xfrm>
          <a:prstGeom prst="rect">
            <a:avLst/>
          </a:prstGeom>
          <a:noFill/>
        </p:spPr>
        <p:txBody>
          <a:bodyPr wrap="square" rtlCol="0">
            <a:spAutoFit/>
          </a:bodyPr>
          <a:lstStyle/>
          <a:p>
            <a:endParaRPr lang="en-IN" dirty="0"/>
          </a:p>
        </p:txBody>
      </p:sp>
      <p:sp>
        <p:nvSpPr>
          <p:cNvPr id="4" name="TextBox 3">
            <a:extLst>
              <a:ext uri="{FF2B5EF4-FFF2-40B4-BE49-F238E27FC236}">
                <a16:creationId xmlns:a16="http://schemas.microsoft.com/office/drawing/2014/main" id="{68B23C01-8A4F-FD2C-BF5B-7208631323BB}"/>
              </a:ext>
            </a:extLst>
          </p:cNvPr>
          <p:cNvSpPr txBox="1"/>
          <p:nvPr/>
        </p:nvSpPr>
        <p:spPr>
          <a:xfrm>
            <a:off x="845850" y="380544"/>
            <a:ext cx="1779463" cy="461665"/>
          </a:xfrm>
          <a:prstGeom prst="rect">
            <a:avLst/>
          </a:prstGeom>
          <a:noFill/>
        </p:spPr>
        <p:txBody>
          <a:bodyPr wrap="square" rtlCol="0">
            <a:spAutoFit/>
          </a:bodyPr>
          <a:lstStyle/>
          <a:p>
            <a:r>
              <a:rPr lang="en-IN" sz="2400" b="1" dirty="0">
                <a:solidFill>
                  <a:schemeClr val="bg2">
                    <a:lumMod val="75000"/>
                  </a:schemeClr>
                </a:solidFill>
                <a:latin typeface="Times New Roman" panose="02020603050405020304" pitchFamily="18" charset="0"/>
                <a:cs typeface="Times New Roman" panose="02020603050405020304" pitchFamily="18" charset="0"/>
              </a:rPr>
              <a:t>Content</a:t>
            </a:r>
          </a:p>
        </p:txBody>
      </p:sp>
    </p:spTree>
    <p:extLst>
      <p:ext uri="{BB962C8B-B14F-4D97-AF65-F5344CB8AC3E}">
        <p14:creationId xmlns:p14="http://schemas.microsoft.com/office/powerpoint/2010/main" val="1084734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F693F-BB35-4A3C-294B-0CB243DE9BD6}"/>
              </a:ext>
            </a:extLst>
          </p:cNvPr>
          <p:cNvSpPr>
            <a:spLocks noGrp="1"/>
          </p:cNvSpPr>
          <p:nvPr>
            <p:ph type="title"/>
          </p:nvPr>
        </p:nvSpPr>
        <p:spPr>
          <a:xfrm>
            <a:off x="812801" y="361724"/>
            <a:ext cx="10668000" cy="487500"/>
          </a:xfrm>
        </p:spPr>
        <p:txBody>
          <a:bodyPr/>
          <a:lstStyle/>
          <a:p>
            <a:r>
              <a:rPr lang="en-GB" dirty="0">
                <a:latin typeface="Times New Roman" panose="02020603050405020304" pitchFamily="18" charset="0"/>
                <a:ea typeface="Cambria" panose="02040503050406030204" pitchFamily="18" charset="0"/>
                <a:cs typeface="Times New Roman" panose="02020603050405020304" pitchFamily="18" charset="0"/>
              </a:rPr>
              <a:t>Problem Statement Number: SIH 25008</a:t>
            </a:r>
            <a:endParaRPr lang="en-IN" dirty="0"/>
          </a:p>
        </p:txBody>
      </p:sp>
      <p:sp>
        <p:nvSpPr>
          <p:cNvPr id="3" name="Text Placeholder 2">
            <a:extLst>
              <a:ext uri="{FF2B5EF4-FFF2-40B4-BE49-F238E27FC236}">
                <a16:creationId xmlns:a16="http://schemas.microsoft.com/office/drawing/2014/main" id="{9F845C03-7480-FE16-D6D3-DB871BB85880}"/>
              </a:ext>
            </a:extLst>
          </p:cNvPr>
          <p:cNvSpPr>
            <a:spLocks noGrp="1"/>
          </p:cNvSpPr>
          <p:nvPr>
            <p:ph type="body" idx="1"/>
          </p:nvPr>
        </p:nvSpPr>
        <p:spPr>
          <a:xfrm>
            <a:off x="870857" y="1273629"/>
            <a:ext cx="10668000" cy="4953000"/>
          </a:xfrm>
        </p:spPr>
        <p:txBody>
          <a:bodyPr>
            <a:normAutofit/>
          </a:bodyPr>
          <a:lstStyle/>
          <a:p>
            <a:pPr marL="76200" indent="0">
              <a:buNone/>
            </a:pPr>
            <a:endParaRPr lang="en-US" sz="1600" dirty="0">
              <a:latin typeface="Times New Roman" panose="02020603050405020304" pitchFamily="18" charset="0"/>
              <a:ea typeface="Cambria" panose="02040503050406030204" pitchFamily="18" charset="0"/>
              <a:cs typeface="Times New Roman" panose="02020603050405020304" pitchFamily="18" charset="0"/>
            </a:endParaRPr>
          </a:p>
          <a:p>
            <a:pPr marL="76200" indent="0">
              <a:buNone/>
            </a:pPr>
            <a:r>
              <a:rPr lang="en-US" sz="1800" b="1" dirty="0">
                <a:latin typeface="Times New Roman" panose="02020603050405020304" pitchFamily="18" charset="0"/>
                <a:ea typeface="Cambria" panose="02040503050406030204" pitchFamily="18" charset="0"/>
                <a:cs typeface="Times New Roman" panose="02020603050405020304" pitchFamily="18" charset="0"/>
              </a:rPr>
              <a:t>Category (Hardware / Software / Both) :</a:t>
            </a:r>
            <a:r>
              <a:rPr lang="en-US" sz="1600" b="1" dirty="0">
                <a:latin typeface="Times New Roman" panose="02020603050405020304" pitchFamily="18" charset="0"/>
                <a:ea typeface="Cambria" panose="02040503050406030204" pitchFamily="18" charset="0"/>
                <a:cs typeface="Times New Roman" panose="02020603050405020304" pitchFamily="18" charset="0"/>
              </a:rPr>
              <a:t> </a:t>
            </a:r>
            <a:r>
              <a:rPr lang="en-US" sz="1800" dirty="0">
                <a:latin typeface="Times New Roman" panose="02020603050405020304" pitchFamily="18" charset="0"/>
                <a:ea typeface="Cambria" panose="02040503050406030204" pitchFamily="18" charset="0"/>
                <a:cs typeface="Times New Roman" panose="02020603050405020304" pitchFamily="18" charset="0"/>
              </a:rPr>
              <a:t>Software</a:t>
            </a:r>
          </a:p>
          <a:p>
            <a:pPr marL="76200" indent="0">
              <a:buNone/>
            </a:pPr>
            <a:endParaRPr lang="en-US" sz="1600" dirty="0">
              <a:latin typeface="Times New Roman" panose="02020603050405020304" pitchFamily="18" charset="0"/>
              <a:ea typeface="Cambria" panose="02040503050406030204" pitchFamily="18" charset="0"/>
              <a:cs typeface="Times New Roman" panose="02020603050405020304" pitchFamily="18" charset="0"/>
            </a:endParaRPr>
          </a:p>
          <a:p>
            <a:pPr marL="76200" indent="0" algn="just">
              <a:buNone/>
            </a:pPr>
            <a:r>
              <a:rPr lang="en-US" sz="18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Problem Description: </a:t>
            </a:r>
          </a:p>
          <a:p>
            <a:pPr marL="76200" indent="0" algn="just">
              <a:buNone/>
            </a:pPr>
            <a:r>
              <a:rPr lang="en-US" sz="18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Educational establishments, including schools and colleges, do not have a planned, continuous system of disaster preparedness and response training. Disaster awareness is confined to theoretical knowledge or irregular physical drills with no clear-cut mechanism or time for readiness assessment, or participation and response accuracy monitoring. This absence of systematic preparedness can create panic, confusion, and increased risk when disaster strikes. Therefore, the specific digital disaster preparedness and response education is required to </a:t>
            </a:r>
          </a:p>
          <a:p>
            <a:pPr marL="76200" indent="0" algn="just">
              <a:buNone/>
            </a:pPr>
            <a:r>
              <a:rPr lang="en-US" sz="18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(a) provide knowledge to the participants </a:t>
            </a:r>
          </a:p>
          <a:p>
            <a:pPr marL="76200" indent="0" algn="just">
              <a:buNone/>
            </a:pPr>
            <a:r>
              <a:rPr lang="en-US" sz="18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(b) conduct simulation-based disaster drills</a:t>
            </a:r>
          </a:p>
          <a:p>
            <a:pPr marL="76200" indent="0" algn="just">
              <a:buNone/>
            </a:pPr>
            <a:r>
              <a:rPr lang="en-US" sz="18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(c) evaluate the preparedness levels of students and staff in educational institutes regarding disasters.</a:t>
            </a:r>
          </a:p>
        </p:txBody>
      </p:sp>
    </p:spTree>
    <p:extLst>
      <p:ext uri="{BB962C8B-B14F-4D97-AF65-F5344CB8AC3E}">
        <p14:creationId xmlns:p14="http://schemas.microsoft.com/office/powerpoint/2010/main" val="2145215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B8EF6-7877-6BE9-3AAA-DFB06FC3C74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Objectives:</a:t>
            </a:r>
            <a:endParaRPr lang="en-IN" dirty="0"/>
          </a:p>
        </p:txBody>
      </p:sp>
      <p:sp>
        <p:nvSpPr>
          <p:cNvPr id="7" name="Rectangle 3">
            <a:extLst>
              <a:ext uri="{FF2B5EF4-FFF2-40B4-BE49-F238E27FC236}">
                <a16:creationId xmlns:a16="http://schemas.microsoft.com/office/drawing/2014/main" id="{44E498A1-1C1D-F8B7-5E2E-770C6B752AA2}"/>
              </a:ext>
            </a:extLst>
          </p:cNvPr>
          <p:cNvSpPr>
            <a:spLocks noGrp="1" noChangeArrowheads="1"/>
          </p:cNvSpPr>
          <p:nvPr>
            <p:ph type="body" idx="1"/>
          </p:nvPr>
        </p:nvSpPr>
        <p:spPr bwMode="auto">
          <a:xfrm>
            <a:off x="704645" y="1289099"/>
            <a:ext cx="1041908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spcBef>
                <a:spcPct val="0"/>
              </a:spcBef>
              <a:spcAft>
                <a:spcPct val="0"/>
              </a:spcAft>
              <a:buClrTx/>
              <a:buSzTx/>
              <a:buFontTx/>
              <a:buChar char="•"/>
            </a:pPr>
            <a:r>
              <a:rPr lang="en-US" altLang="en-US" sz="1800" dirty="0">
                <a:solidFill>
                  <a:schemeClr val="tx1"/>
                </a:solidFill>
                <a:latin typeface="Arial" panose="020B0604020202020204" pitchFamily="34" charset="0"/>
              </a:rPr>
              <a:t> </a:t>
            </a:r>
            <a:r>
              <a:rPr lang="en-US" altLang="en-US" sz="1800" dirty="0">
                <a:solidFill>
                  <a:schemeClr val="tx1"/>
                </a:solidFill>
                <a:latin typeface="Times New Roman" panose="02020603050405020304" pitchFamily="18" charset="0"/>
                <a:cs typeface="Times New Roman" panose="02020603050405020304" pitchFamily="18" charset="0"/>
              </a:rPr>
              <a:t>To educate students and staff about disaster preparedness.</a:t>
            </a:r>
          </a:p>
          <a:p>
            <a:pPr marL="0" lvl="0" indent="0" algn="just" eaLnBrk="0" fontAlgn="base" hangingPunct="0">
              <a:spcBef>
                <a:spcPct val="0"/>
              </a:spcBef>
              <a:spcAft>
                <a:spcPct val="0"/>
              </a:spcAft>
              <a:buClrTx/>
              <a:buSzTx/>
              <a:buFontTx/>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pPr>
            <a:r>
              <a:rPr lang="en-US" altLang="en-US" sz="1800" dirty="0">
                <a:solidFill>
                  <a:schemeClr val="tx1"/>
                </a:solidFill>
                <a:latin typeface="Times New Roman" panose="02020603050405020304" pitchFamily="18" charset="0"/>
                <a:cs typeface="Times New Roman" panose="02020603050405020304" pitchFamily="18" charset="0"/>
              </a:rPr>
              <a:t> To conduct virtual disaster response drills.</a:t>
            </a:r>
          </a:p>
          <a:p>
            <a:pPr marL="0" lvl="0" indent="0" algn="just" eaLnBrk="0" fontAlgn="base" hangingPunct="0">
              <a:spcBef>
                <a:spcPct val="0"/>
              </a:spcBef>
              <a:spcAft>
                <a:spcPct val="0"/>
              </a:spcAft>
              <a:buClrTx/>
              <a:buSzTx/>
              <a:buFontTx/>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pPr>
            <a:r>
              <a:rPr lang="en-US" altLang="en-US" sz="1800" dirty="0">
                <a:solidFill>
                  <a:schemeClr val="tx1"/>
                </a:solidFill>
                <a:latin typeface="Times New Roman" panose="02020603050405020304" pitchFamily="18" charset="0"/>
                <a:cs typeface="Times New Roman" panose="02020603050405020304" pitchFamily="18" charset="0"/>
              </a:rPr>
              <a:t> To evaluate preparedness using scoring and analytics.</a:t>
            </a:r>
          </a:p>
          <a:p>
            <a:pPr marL="0" lvl="0" indent="0" algn="just" eaLnBrk="0" fontAlgn="base" hangingPunct="0">
              <a:spcBef>
                <a:spcPct val="0"/>
              </a:spcBef>
              <a:spcAft>
                <a:spcPct val="0"/>
              </a:spcAft>
              <a:buClrTx/>
              <a:buSzTx/>
              <a:buFontTx/>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pPr>
            <a:r>
              <a:rPr lang="en-US" altLang="en-US" sz="1800" dirty="0">
                <a:solidFill>
                  <a:schemeClr val="tx1"/>
                </a:solidFill>
                <a:latin typeface="Times New Roman" panose="02020603050405020304" pitchFamily="18" charset="0"/>
                <a:cs typeface="Times New Roman" panose="02020603050405020304" pitchFamily="18" charset="0"/>
              </a:rPr>
              <a:t> To help schools and colleges improve disaster readiness.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7757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System Architecture</a:t>
            </a:r>
          </a:p>
        </p:txBody>
      </p:sp>
      <p:sp>
        <p:nvSpPr>
          <p:cNvPr id="3" name="Text Placeholder 2"/>
          <p:cNvSpPr>
            <a:spLocks noGrp="1"/>
          </p:cNvSpPr>
          <p:nvPr>
            <p:ph type="body" idx="1"/>
          </p:nvPr>
        </p:nvSpPr>
        <p:spPr/>
        <p:txBody>
          <a:bodyPr/>
          <a:lstStyle/>
          <a:p>
            <a:r>
              <a:rPr dirty="0">
                <a:latin typeface="Times New Roman" panose="02020603050405020304" pitchFamily="18" charset="0"/>
                <a:cs typeface="Times New Roman" panose="02020603050405020304" pitchFamily="18" charset="0"/>
              </a:rPr>
              <a:t>React frontend.</a:t>
            </a:r>
          </a:p>
          <a:p>
            <a:r>
              <a:rPr dirty="0">
                <a:latin typeface="Times New Roman" panose="02020603050405020304" pitchFamily="18" charset="0"/>
                <a:cs typeface="Times New Roman" panose="02020603050405020304" pitchFamily="18" charset="0"/>
              </a:rPr>
              <a:t>Flask backend.</a:t>
            </a:r>
          </a:p>
          <a:p>
            <a:r>
              <a:rPr dirty="0">
                <a:latin typeface="Times New Roman" panose="02020603050405020304" pitchFamily="18" charset="0"/>
                <a:cs typeface="Times New Roman" panose="02020603050405020304" pitchFamily="18" charset="0"/>
              </a:rPr>
              <a:t>API-based communication.</a:t>
            </a:r>
          </a:p>
        </p:txBody>
      </p:sp>
      <p:pic>
        <p:nvPicPr>
          <p:cNvPr id="4" name="Picture 3">
            <a:extLst>
              <a:ext uri="{FF2B5EF4-FFF2-40B4-BE49-F238E27FC236}">
                <a16:creationId xmlns:a16="http://schemas.microsoft.com/office/drawing/2014/main" id="{5C2F5B88-9581-15A0-32AA-E920B839E0CB}"/>
              </a:ext>
            </a:extLst>
          </p:cNvPr>
          <p:cNvPicPr>
            <a:picLocks noChangeAspect="1"/>
          </p:cNvPicPr>
          <p:nvPr/>
        </p:nvPicPr>
        <p:blipFill>
          <a:blip r:embed="rId2"/>
          <a:stretch>
            <a:fillRect/>
          </a:stretch>
        </p:blipFill>
        <p:spPr>
          <a:xfrm>
            <a:off x="2286000" y="2743199"/>
            <a:ext cx="7620000" cy="335280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Modules</a:t>
            </a:r>
          </a:p>
        </p:txBody>
      </p:sp>
      <p:sp>
        <p:nvSpPr>
          <p:cNvPr id="3" name="Text Placeholder 2"/>
          <p:cNvSpPr>
            <a:spLocks noGrp="1"/>
          </p:cNvSpPr>
          <p:nvPr>
            <p:ph type="body" idx="1"/>
          </p:nvPr>
        </p:nvSpPr>
        <p:spPr/>
        <p:txBody>
          <a:bodyPr/>
          <a:lstStyle/>
          <a:p>
            <a:r>
              <a:rPr lang="en-US" b="1" dirty="0">
                <a:latin typeface="Times New Roman" panose="02020603050405020304" pitchFamily="18" charset="0"/>
                <a:cs typeface="Times New Roman" panose="02020603050405020304" pitchFamily="18" charset="0"/>
              </a:rPr>
              <a:t>Student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Provides disaster awareness learning content and allows students to take preparedness tests for self-assessment.</a:t>
            </a:r>
          </a:p>
          <a:p>
            <a:r>
              <a:rPr lang="en-US" b="1" dirty="0">
                <a:latin typeface="Times New Roman" panose="02020603050405020304" pitchFamily="18" charset="0"/>
                <a:cs typeface="Times New Roman" panose="02020603050405020304" pitchFamily="18" charset="0"/>
              </a:rPr>
              <a:t>Admin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Enables administrators to upload learning materials and monitor student participation and preparedness levels.</a:t>
            </a:r>
          </a:p>
          <a:p>
            <a:r>
              <a:rPr lang="en-US" b="1" dirty="0">
                <a:latin typeface="Times New Roman" panose="02020603050405020304" pitchFamily="18" charset="0"/>
                <a:cs typeface="Times New Roman" panose="02020603050405020304" pitchFamily="18" charset="0"/>
              </a:rPr>
              <a:t>Evaluation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Assesses student responses, calculates preparedness scores, and provides feedback based on performance.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Literature Survey </a:t>
            </a:r>
          </a:p>
        </p:txBody>
      </p:sp>
      <p:sp>
        <p:nvSpPr>
          <p:cNvPr id="3" name="Text Placeholder 2"/>
          <p:cNvSpPr>
            <a:spLocks noGrp="1"/>
          </p:cNvSpPr>
          <p:nvPr>
            <p:ph type="body"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Disaster education and community communication (2025)</a:t>
            </a:r>
          </a:p>
          <a:p>
            <a:r>
              <a:rPr lang="en-IN" dirty="0">
                <a:latin typeface="Times New Roman" panose="02020603050405020304" pitchFamily="18" charset="0"/>
                <a:cs typeface="Times New Roman" panose="02020603050405020304" pitchFamily="18" charset="0"/>
                <a:hlinkClick r:id="rId2"/>
              </a:rPr>
              <a:t>https://www.frontiersin.org/journals/communication/articles/10.3389/fcomm.2025.1632436/full</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Kaur &amp; Singh (2024), Springer – E-Learning Systems for Disaster Preparedness</a:t>
            </a:r>
          </a:p>
          <a:p>
            <a:r>
              <a:rPr lang="en-IN" dirty="0">
                <a:latin typeface="Times New Roman" panose="02020603050405020304" pitchFamily="18" charset="0"/>
                <a:cs typeface="Times New Roman" panose="02020603050405020304" pitchFamily="18" charset="0"/>
                <a:hlinkClick r:id="rId3"/>
              </a:rPr>
              <a:t>https://link.springer.com/article/10.1007/s44217-025-00771-5</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Patel et al. (2022), Scopus Indexed Journal – Role-Based Disaster Management Systems</a:t>
            </a:r>
          </a:p>
          <a:p>
            <a:r>
              <a:rPr lang="en-IN" dirty="0">
                <a:latin typeface="Times New Roman" panose="02020603050405020304" pitchFamily="18" charset="0"/>
                <a:cs typeface="Times New Roman" panose="02020603050405020304" pitchFamily="18" charset="0"/>
                <a:hlinkClick r:id="rId4"/>
              </a:rPr>
              <a:t>https://en.wikipedia.org/wiki/Sahana_Software_Foundation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Rahman et al. (2021), IEEE – Assessment-Based Disaster Training Models</a:t>
            </a:r>
          </a:p>
          <a:p>
            <a:r>
              <a:rPr lang="en-IN" dirty="0">
                <a:latin typeface="Times New Roman" panose="02020603050405020304" pitchFamily="18" charset="0"/>
                <a:cs typeface="Times New Roman" panose="02020603050405020304" pitchFamily="18" charset="0"/>
                <a:hlinkClick r:id="rId5"/>
              </a:rPr>
              <a:t>https://pmc.ncbi.nlm.nih.gov/articles/PMC8838598/</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World Bank (2020) , Technology for Disaster Resilience</a:t>
            </a:r>
          </a:p>
          <a:p>
            <a:r>
              <a:rPr lang="en-IN" dirty="0">
                <a:latin typeface="Times New Roman" panose="02020603050405020304" pitchFamily="18" charset="0"/>
                <a:cs typeface="Times New Roman" panose="02020603050405020304" pitchFamily="18" charset="0"/>
                <a:hlinkClick r:id="rId6"/>
              </a:rPr>
              <a:t>https://www.worldbank.org/en/topic/disasterriskmanagement/overview</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68150"/>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965200" y="1295400"/>
            <a:ext cx="10668000" cy="442148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SzPct val="100000"/>
              <a:buFont typeface="Arial"/>
              <a:buNone/>
            </a:pP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SzPct val="100000"/>
              <a:buFont typeface="Arial"/>
              <a:buNone/>
            </a:pPr>
            <a:r>
              <a:rPr lang="en-US" sz="2800" b="1"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rPr>
              <a:t>GitHub Link:</a:t>
            </a:r>
          </a:p>
          <a:p>
            <a:pPr marL="342900" indent="-190500" algn="just">
              <a:spcBef>
                <a:spcPts val="0"/>
              </a:spcBef>
              <a:buSzPct val="100000"/>
              <a:buFont typeface="Arial"/>
              <a:buNone/>
            </a:pPr>
            <a:endParaRPr lang="en-US" sz="2800" b="1"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hlinkClick r:id="rId3"/>
            </a:endParaRPr>
          </a:p>
          <a:p>
            <a:pPr marL="342900" indent="-190500" algn="just">
              <a:spcBef>
                <a:spcPts val="0"/>
              </a:spcBef>
              <a:buSzPct val="100000"/>
              <a:buNone/>
            </a:pPr>
            <a:r>
              <a:rPr lang="en-US" sz="1800" b="1"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hlinkClick r:id="rId4"/>
              </a:rPr>
              <a:t>https://github.com/dhanyadt/disaster-management</a:t>
            </a:r>
            <a:endParaRPr lang="en-US" dirty="0">
              <a:solidFill>
                <a:schemeClr val="bg2">
                  <a:lumMod val="60000"/>
                  <a:lumOff val="40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1674</TotalTime>
  <Words>495</Words>
  <Application>Microsoft Office PowerPoint</Application>
  <PresentationFormat>Widescreen</PresentationFormat>
  <Paragraphs>75</Paragraphs>
  <Slides>9</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Cambria</vt:lpstr>
      <vt:lpstr>Times New Roman</vt:lpstr>
      <vt:lpstr>Verdana</vt:lpstr>
      <vt:lpstr>Bioinformatics</vt:lpstr>
      <vt:lpstr>Disaster Preparedness and Response Education System for Schools and Colleges``</vt:lpstr>
      <vt:lpstr>PowerPoint Presentation</vt:lpstr>
      <vt:lpstr>Problem Statement Number: SIH 25008</vt:lpstr>
      <vt:lpstr>Objectives:</vt:lpstr>
      <vt:lpstr>System Architecture</vt:lpstr>
      <vt:lpstr>Modules</vt:lpstr>
      <vt:lpstr>Literature Survey </vt:lpstr>
      <vt:lpstr>Github Link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Dhanya D T</cp:lastModifiedBy>
  <cp:revision>77</cp:revision>
  <dcterms:modified xsi:type="dcterms:W3CDTF">2026-04-22T15:54:26Z</dcterms:modified>
</cp:coreProperties>
</file>